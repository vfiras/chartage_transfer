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e7c2f2e61c0423a" /><Relationship Type="http://schemas.openxmlformats.org/officeDocument/2006/relationships/extended-properties" Target="/docProps/app.xml" Id="R79962f05a9e740e5" /><Relationship Type="http://schemas.openxmlformats.org/officeDocument/2006/relationships/officeDocument" Target="/ppt/presentation.xml" Id="R9ccb8909a3374ff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a6fec36a91d4b4b"/>
  </p:sldMasterIdLst>
  <p:notesMasterIdLst>
    <p:notesMasterId xmlns:r="http://schemas.openxmlformats.org/officeDocument/2006/relationships" r:id="Rc39604c0e29f4d85"/>
  </p:notesMasterIdLst>
  <p:sldIdLst>
    <p:sldId xmlns:r="http://schemas.openxmlformats.org/officeDocument/2006/relationships" id="256" r:id="R8a2708bdcdfa403c"/>
    <p:sldId xmlns:r="http://schemas.openxmlformats.org/officeDocument/2006/relationships" id="257" r:id="Rda6585f6469e4139"/>
    <p:sldId xmlns:r="http://schemas.openxmlformats.org/officeDocument/2006/relationships" id="258" r:id="Re6855887c36248f0"/>
    <p:sldId xmlns:r="http://schemas.openxmlformats.org/officeDocument/2006/relationships" id="259" r:id="Rc5108acbb3f74986"/>
    <p:sldId xmlns:r="http://schemas.openxmlformats.org/officeDocument/2006/relationships" id="260" r:id="R2d5f58cf0046410f"/>
    <p:sldId xmlns:r="http://schemas.openxmlformats.org/officeDocument/2006/relationships" id="261" r:id="R7db264a9719742fd"/>
    <p:sldId xmlns:r="http://schemas.openxmlformats.org/officeDocument/2006/relationships" id="262" r:id="Rab72d602b425436c"/>
    <p:sldId xmlns:r="http://schemas.openxmlformats.org/officeDocument/2006/relationships" id="263" r:id="R6482136d0438417e"/>
    <p:sldId xmlns:r="http://schemas.openxmlformats.org/officeDocument/2006/relationships" id="264" r:id="R11d5402ca1254d05"/>
    <p:sldId xmlns:r="http://schemas.openxmlformats.org/officeDocument/2006/relationships" id="265" r:id="R9331eeb8ef7c46b1"/>
    <p:sldId xmlns:r="http://schemas.openxmlformats.org/officeDocument/2006/relationships" id="266" r:id="Rf4d7a51d2b4b4460"/>
    <p:sldId xmlns:r="http://schemas.openxmlformats.org/officeDocument/2006/relationships" id="267" r:id="R79a6594818fb435b"/>
    <p:sldId xmlns:r="http://schemas.openxmlformats.org/officeDocument/2006/relationships" id="268" r:id="R796dcfd55aac46d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02692e2b5824b13" /><Relationship Type="http://schemas.openxmlformats.org/officeDocument/2006/relationships/slideMaster" Target="/ppt/slideMasters/slideMaster1.xml" Id="R7a6fec36a91d4b4b" /><Relationship Type="http://schemas.openxmlformats.org/officeDocument/2006/relationships/notesMaster" Target="/ppt/notesMasters/notesMaster1.xml" Id="Rc39604c0e29f4d85" /><Relationship Type="http://schemas.openxmlformats.org/officeDocument/2006/relationships/presProps" Target="/ppt/presProps.xml" Id="R05628cfff66f4294" /><Relationship Type="http://schemas.openxmlformats.org/officeDocument/2006/relationships/tableStyles" Target="/ppt/tableStyles.xml" Id="R6b151e78428d4eb1" /><Relationship Type="http://schemas.openxmlformats.org/officeDocument/2006/relationships/slide" Target="/ppt/slides/slide1.xml" Id="R8a2708bdcdfa403c" /><Relationship Type="http://schemas.openxmlformats.org/officeDocument/2006/relationships/slide" Target="/ppt/slides/slide2.xml" Id="Rda6585f6469e4139" /><Relationship Type="http://schemas.openxmlformats.org/officeDocument/2006/relationships/slide" Target="/ppt/slides/slide3.xml" Id="Re6855887c36248f0" /><Relationship Type="http://schemas.openxmlformats.org/officeDocument/2006/relationships/slide" Target="/ppt/slides/slide4.xml" Id="Rc5108acbb3f74986" /><Relationship Type="http://schemas.openxmlformats.org/officeDocument/2006/relationships/slide" Target="/ppt/slides/slide5.xml" Id="R2d5f58cf0046410f" /><Relationship Type="http://schemas.openxmlformats.org/officeDocument/2006/relationships/slide" Target="/ppt/slides/slide6.xml" Id="R7db264a9719742fd" /><Relationship Type="http://schemas.openxmlformats.org/officeDocument/2006/relationships/slide" Target="/ppt/slides/slide7.xml" Id="Rab72d602b425436c" /><Relationship Type="http://schemas.openxmlformats.org/officeDocument/2006/relationships/slide" Target="/ppt/slides/slide8.xml" Id="R6482136d0438417e" /><Relationship Type="http://schemas.openxmlformats.org/officeDocument/2006/relationships/slide" Target="/ppt/slides/slide9.xml" Id="R11d5402ca1254d05" /><Relationship Type="http://schemas.openxmlformats.org/officeDocument/2006/relationships/slide" Target="/ppt/slides/slide10.xml" Id="R9331eeb8ef7c46b1" /><Relationship Type="http://schemas.openxmlformats.org/officeDocument/2006/relationships/slide" Target="/ppt/slides/slide11.xml" Id="Rf4d7a51d2b4b4460" /><Relationship Type="http://schemas.openxmlformats.org/officeDocument/2006/relationships/slide" Target="/ppt/slides/slide12.xml" Id="R79a6594818fb435b" /><Relationship Type="http://schemas.openxmlformats.org/officeDocument/2006/relationships/slide" Target="/ppt/slides/slide13.xml" Id="R796dcfd55aac46d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bb746f9d99c4da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9d7767f67f746bb" /><Relationship Type="http://schemas.openxmlformats.org/officeDocument/2006/relationships/notesMaster" Target="/ppt/notesMasters/notesMaster1.xml" Id="R2f7c12dbd024419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9bb223322434d66" /><Relationship Type="http://schemas.openxmlformats.org/officeDocument/2006/relationships/notesMaster" Target="/ppt/notesMasters/notesMaster1.xml" Id="Rebd75fbdfd9e484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b2205e612314239" /><Relationship Type="http://schemas.openxmlformats.org/officeDocument/2006/relationships/notesMaster" Target="/ppt/notesMasters/notesMaster1.xml" Id="R442436d3f15d457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403d13e250a414e" /><Relationship Type="http://schemas.openxmlformats.org/officeDocument/2006/relationships/notesMaster" Target="/ppt/notesMasters/notesMaster1.xml" Id="R251f04e2b8d0445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b8adc66579546bd" /><Relationship Type="http://schemas.openxmlformats.org/officeDocument/2006/relationships/notesMaster" Target="/ppt/notesMasters/notesMaster1.xml" Id="Ra558093c1a0945d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757e1848249471c" /><Relationship Type="http://schemas.openxmlformats.org/officeDocument/2006/relationships/notesMaster" Target="/ppt/notesMasters/notesMaster1.xml" Id="Rd1df58b8657a4a9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81b454536d84ee1" /><Relationship Type="http://schemas.openxmlformats.org/officeDocument/2006/relationships/notesMaster" Target="/ppt/notesMasters/notesMaster1.xml" Id="R36978f06eecd435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1d8e587ae6942b3" /><Relationship Type="http://schemas.openxmlformats.org/officeDocument/2006/relationships/notesMaster" Target="/ppt/notesMasters/notesMaster1.xml" Id="Rd7c753a277e643a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9cfaf5c0b9b4931" /><Relationship Type="http://schemas.openxmlformats.org/officeDocument/2006/relationships/notesMaster" Target="/ppt/notesMasters/notesMaster1.xml" Id="R1d76591ea5cc491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578d62a62f14ae9" /><Relationship Type="http://schemas.openxmlformats.org/officeDocument/2006/relationships/notesMaster" Target="/ppt/notesMasters/notesMaster1.xml" Id="Re3af066bb13244e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9c89ad1571e4eab" /><Relationship Type="http://schemas.openxmlformats.org/officeDocument/2006/relationships/notesMaster" Target="/ppt/notesMasters/notesMaster1.xml" Id="Rcd2774796248424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6ae8bb2d1df4990" /><Relationship Type="http://schemas.openxmlformats.org/officeDocument/2006/relationships/notesMaster" Target="/ppt/notesMasters/notesMaster1.xml" Id="R595327898870423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1f3aefde7074564" /><Relationship Type="http://schemas.openxmlformats.org/officeDocument/2006/relationships/notesMaster" Target="/ppt/notesMasters/notesMaster1.xml" Id="R5a9f649daeb54e7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f6b3c18d68462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86d9b5bdce34e6d" /><Relationship Type="http://schemas.openxmlformats.org/officeDocument/2006/relationships/slideLayout" Target="/ppt/slideLayouts/slideLayout1.xml" Id="Rea7413db84e04e7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a7413db84e04e7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f5799143a04d16" /><Relationship Type="http://schemas.openxmlformats.org/officeDocument/2006/relationships/notesSlide" Target="/ppt/notesSlides/notesSlide1.xml" Id="R8c2a5bb349f6481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f8c5b12a45481c" /><Relationship Type="http://schemas.openxmlformats.org/officeDocument/2006/relationships/notesSlide" Target="/ppt/notesSlides/notesSlide2.xml" Id="R9d1989d64b634ff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b2b4ea82924583" /><Relationship Type="http://schemas.openxmlformats.org/officeDocument/2006/relationships/notesSlide" Target="/ppt/notesSlides/notesSlide3.xml" Id="R64fee67a6d194a1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8142a57e9a4b3d" /><Relationship Type="http://schemas.openxmlformats.org/officeDocument/2006/relationships/notesSlide" Target="/ppt/notesSlides/notesSlide4.xml" Id="R96a6a4ebfb64459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152633ce874084" /><Relationship Type="http://schemas.openxmlformats.org/officeDocument/2006/relationships/notesSlide" Target="/ppt/notesSlides/notesSlide5.xml" Id="R0034f48711b343d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47a9757f3b4005" /><Relationship Type="http://schemas.openxmlformats.org/officeDocument/2006/relationships/notesSlide" Target="/ppt/notesSlides/notesSlide6.xml" Id="Rf99bcbd419fd453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2438c65dfa4af4" /><Relationship Type="http://schemas.openxmlformats.org/officeDocument/2006/relationships/notesSlide" Target="/ppt/notesSlides/notesSlide7.xml" Id="R7d0354cf14ac423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21a21666ca4838" /><Relationship Type="http://schemas.openxmlformats.org/officeDocument/2006/relationships/notesSlide" Target="/ppt/notesSlides/notesSlide8.xml" Id="R9cf587e32529465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c5efcf10f44183" /><Relationship Type="http://schemas.openxmlformats.org/officeDocument/2006/relationships/notesSlide" Target="/ppt/notesSlides/notesSlide9.xml" Id="R325c22d1eb2f447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c43eda8bc94a91" /><Relationship Type="http://schemas.openxmlformats.org/officeDocument/2006/relationships/notesSlide" Target="/ppt/notesSlides/notesSlide10.xml" Id="R82a8b6154fc747d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f5f0c582fc4a38" /><Relationship Type="http://schemas.openxmlformats.org/officeDocument/2006/relationships/notesSlide" Target="/ppt/notesSlides/notesSlide11.xml" Id="Rbc2c1f7664ca468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330d391ed44931" /><Relationship Type="http://schemas.openxmlformats.org/officeDocument/2006/relationships/notesSlide" Target="/ppt/notesSlides/notesSlide12.xml" Id="Rff5a73c1c7254b2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0a3c6896fa45b5" /><Relationship Type="http://schemas.openxmlformats.org/officeDocument/2006/relationships/notesSlide" Target="/ppt/notesSlides/notesSlide13.xml" Id="R2ad6a803be06469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693E844-AE49-4528-8C80-280AEC711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55DE5C-7427-489D-9611-5B9303E5D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9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548AA9-AF95-45E0-BA29-7308D7706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26E9FA-AD3D-4316-A7A6-3AC70B7F0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239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D9E5E7"/>
                </a:solidFill>
              </a:defRPr>
            </a:pPr>
            <a:r>
              <a:rPr sz="975" b="1">
                <a:solidFill>
                  <a:srgbClr val="D9E5E7"/>
                </a:solidFill>
              </a:rPr>
              <a:t>FINAL YEAR PROJECT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3BFFF0-4F8E-46A4-AF89-13B8B7CAF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6762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Luxury Transportation Platform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F91DA4-718D-4BAB-AEC1-AFEF8F5CB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52750"/>
            <a:ext cx="647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D9E5E7"/>
                </a:solidFill>
              </a:defRPr>
            </a:pPr>
            <a:r>
              <a:rPr sz="2250">
                <a:solidFill>
                  <a:srgbClr val="D9E5E7"/>
                </a:solidFill>
              </a:rPr>
              <a:t>with Intelligent Booking Management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FFD120-034D-4541-94A4-4F7426969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29050"/>
            <a:ext cx="1333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D46C98-79AC-4E83-9305-EE55E5D95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291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>Carthage Transfer mobile application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65A53A-E7A4-4D9C-B08B-6C5F2F427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0"/>
            <a:ext cx="342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D9E5E7"/>
                </a:solidFill>
              </a:defRPr>
            </a:pPr>
            <a:r>
              <a:rPr sz="1350">
                <a:solidFill>
                  <a:srgbClr val="D9E5E7"/>
                </a:solidFill>
              </a:rPr>
              <a:t>Presented by Guesmi Firas</a:t>
            </a:r>
          </a:p>
          <a:p xmlns:a="http://schemas.openxmlformats.org/drawingml/2006/main">
            <a:pPr>
              <a:defRPr sz="1350">
                <a:solidFill>
                  <a:srgbClr val="D9E5E7"/>
                </a:solidFill>
              </a:defRPr>
            </a:pPr>
            <a:r>
              <a:rPr sz="1350">
                <a:solidFill>
                  <a:srgbClr val="D9E5E7"/>
                </a:solidFill>
              </a:rPr>
              <a:t>Esprit - PFE 2026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2528FB-1EC4-4723-AF7D-C5FA6F8F6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676400"/>
            <a:ext cx="29527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4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8C818F-4357-4C66-A3BF-1E2D60F01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676400"/>
            <a:ext cx="571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F281C7-6AF0-4AE3-ABAD-B4EF38C23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847850"/>
            <a:ext cx="2533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1820"/>
                </a:solidFill>
              </a:defRPr>
            </a:pPr>
            <a:r>
              <a:rPr sz="1575" b="1">
                <a:solidFill>
                  <a:srgbClr val="101820"/>
                </a:solidFill>
              </a:rPr>
              <a:t>University Supervisor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9C00B8-CC07-4D3A-B519-88207D045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228850"/>
            <a:ext cx="2533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FE38FD-C1F2-43B1-A8B7-6CCC82113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48000"/>
            <a:ext cx="29527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4C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FE8700-69F6-429A-B22F-A9A8F54AB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48000"/>
            <a:ext cx="571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F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A32C29-A7F1-4643-AD76-E4DE6821B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219450"/>
            <a:ext cx="2533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1820"/>
                </a:solidFill>
              </a:defRPr>
            </a:pPr>
            <a:r>
              <a:rPr sz="1575" b="1">
                <a:solidFill>
                  <a:srgbClr val="101820"/>
                </a:solidFill>
              </a:rPr>
              <a:t>Professional Supervisor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E13472-3AC4-4E78-931C-9F749CEA3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600450"/>
            <a:ext cx="2533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91848480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64ACF07-B5CC-40B6-88DC-80A9D49FB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F6F73"/>
                </a:solidFill>
              </a:defRPr>
            </a:pPr>
            <a:r>
              <a:rPr sz="900" b="1">
                <a:solidFill>
                  <a:srgbClr val="0F6F73"/>
                </a:solidFill>
              </a:rPr>
              <a:t>ROADMAP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DF0C1C-3848-404F-A391-D53E036F3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8096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1820"/>
                </a:solidFill>
              </a:defRPr>
            </a:pPr>
            <a:r>
              <a:rPr sz="2850" b="1">
                <a:solidFill>
                  <a:srgbClr val="101820"/>
                </a:solidFill>
              </a:rPr>
              <a:t>A defense story in ten focused steps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23C5AF-546F-4D22-8B3E-D3F79581B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674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2E0480-FB86-4F4B-AAFD-AA068230B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1150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9646D"/>
                </a:solidFill>
              </a:defRPr>
            </a:pPr>
            <a:r>
              <a:rPr sz="1200" b="1">
                <a:solidFill>
                  <a:srgbClr val="59646D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DBF751-EB67-4201-B342-7DC68C6CD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94310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99A3D"/>
                </a:solidFill>
              </a:defRPr>
            </a:pPr>
            <a:r>
              <a:rPr sz="1800" b="1">
                <a:solidFill>
                  <a:srgbClr val="C99A3D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96846F-0214-4829-A8B0-675B50BB5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197167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01820"/>
                </a:solidFill>
              </a:defRPr>
            </a:pPr>
            <a:r>
              <a:rPr sz="1650">
                <a:solidFill>
                  <a:srgbClr val="101820"/>
                </a:solidFill>
              </a:rPr>
              <a:t>Introduction &amp; Company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26BFF1-5EC1-4660-A834-67E685BCA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343150"/>
            <a:ext cx="285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FD2B9C-A6D1-491E-87CC-1422A0441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62890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99A3D"/>
                </a:solidFill>
              </a:defRPr>
            </a:pPr>
            <a:r>
              <a:rPr sz="1800" b="1">
                <a:solidFill>
                  <a:srgbClr val="C99A3D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64F22E-DA67-441B-B5DE-1249CD937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65747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01820"/>
                </a:solidFill>
              </a:defRPr>
            </a:pPr>
            <a:r>
              <a:rPr sz="1650">
                <a:solidFill>
                  <a:srgbClr val="101820"/>
                </a:solidFill>
              </a:rPr>
              <a:t>Problematic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947B8D-4A3B-4022-996B-EC8F33720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028950"/>
            <a:ext cx="285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932C50-438C-41B5-BACC-C13CB93CA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31470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99A3D"/>
                </a:solidFill>
              </a:defRPr>
            </a:pPr>
            <a:r>
              <a:rPr sz="1800" b="1">
                <a:solidFill>
                  <a:srgbClr val="C99A3D"/>
                </a:solidFill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A96F9A-7416-4DB7-958E-D255CDCFB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34327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01820"/>
                </a:solidFill>
              </a:defRPr>
            </a:pPr>
            <a:r>
              <a:rPr sz="1650">
                <a:solidFill>
                  <a:srgbClr val="101820"/>
                </a:solidFill>
              </a:rPr>
              <a:t>Existing Solutions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292BCB-9BE2-403D-8849-F691CE0E3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714750"/>
            <a:ext cx="285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94D548-EE11-4B65-A809-C8DB7EBE6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0050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99A3D"/>
                </a:solidFill>
              </a:defRPr>
            </a:pPr>
            <a:r>
              <a:rPr sz="1800" b="1">
                <a:solidFill>
                  <a:srgbClr val="C99A3D"/>
                </a:solidFill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BCD192-91DD-4863-8DF5-B35D4C006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02907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01820"/>
                </a:solidFill>
              </a:defRPr>
            </a:pPr>
            <a:r>
              <a:rPr sz="1650">
                <a:solidFill>
                  <a:srgbClr val="101820"/>
                </a:solidFill>
              </a:rPr>
              <a:t>Our Solution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76B3D8-DB32-44AD-92CD-C65218D30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400550"/>
            <a:ext cx="285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6E48CA-A87D-49F8-B789-D50395FA5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68630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99A3D"/>
                </a:solidFill>
              </a:defRPr>
            </a:pPr>
            <a:r>
              <a:rPr sz="1800" b="1">
                <a:solidFill>
                  <a:srgbClr val="C99A3D"/>
                </a:solidFill>
              </a:rPr>
              <a:t>05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0ABDEE-C6C8-48F6-92ED-6189F6581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71487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01820"/>
                </a:solidFill>
              </a:defRPr>
            </a:pPr>
            <a:r>
              <a:rPr sz="1650">
                <a:solidFill>
                  <a:srgbClr val="101820"/>
                </a:solidFill>
              </a:rPr>
              <a:t>Methodology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3A9B56-36AB-4831-AE29-89A42CADF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086350"/>
            <a:ext cx="285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92D683-1A56-44C3-A197-9EE637790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4310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99A3D"/>
                </a:solidFill>
              </a:defRPr>
            </a:pPr>
            <a:r>
              <a:rPr sz="1800" b="1">
                <a:solidFill>
                  <a:srgbClr val="C99A3D"/>
                </a:solidFill>
              </a:rPr>
              <a:t>06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4E15E0-1982-4886-850B-65C10E07A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97167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01820"/>
                </a:solidFill>
              </a:defRPr>
            </a:pPr>
            <a:r>
              <a:rPr sz="1650">
                <a:solidFill>
                  <a:srgbClr val="101820"/>
                </a:solidFill>
              </a:rPr>
              <a:t>Architecture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1BE8E5-3B6F-45FE-A4F4-9271A4511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43150"/>
            <a:ext cx="285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FA7C18-D65D-4EA4-9DC8-34188520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2890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99A3D"/>
                </a:solidFill>
              </a:defRPr>
            </a:pPr>
            <a:r>
              <a:rPr sz="1800" b="1">
                <a:solidFill>
                  <a:srgbClr val="C99A3D"/>
                </a:solidFill>
              </a:rPr>
              <a:t>07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E444F7-B63E-4EEC-97E8-1C24E01B3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65747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01820"/>
                </a:solidFill>
              </a:defRPr>
            </a:pPr>
            <a:r>
              <a:rPr sz="1650">
                <a:solidFill>
                  <a:srgbClr val="101820"/>
                </a:solidFill>
              </a:rPr>
              <a:t>Requirements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A1D821-E4D8-46CC-89C2-7D3560DE2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028950"/>
            <a:ext cx="285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D09DA65-5EC0-4C14-97A3-821E0301D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1470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99A3D"/>
                </a:solidFill>
              </a:defRPr>
            </a:pPr>
            <a:r>
              <a:rPr sz="1800" b="1">
                <a:solidFill>
                  <a:srgbClr val="C99A3D"/>
                </a:solidFill>
              </a:rPr>
              <a:t>08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A0CCC34-66E8-4199-B856-567885D73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4327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01820"/>
                </a:solidFill>
              </a:defRPr>
            </a:pPr>
            <a:r>
              <a:rPr sz="1650">
                <a:solidFill>
                  <a:srgbClr val="101820"/>
                </a:solidFill>
              </a:rPr>
              <a:t>AVA Architecture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61C45BA-38AE-432F-9BC8-56A68BA86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714750"/>
            <a:ext cx="285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FCC0DFB-450E-409B-89A3-2DD795342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0050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99A3D"/>
                </a:solidFill>
              </a:defRPr>
            </a:pPr>
            <a:r>
              <a:rPr sz="1800" b="1">
                <a:solidFill>
                  <a:srgbClr val="C99A3D"/>
                </a:solidFill>
              </a:rPr>
              <a:t>09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0AC896C-FF80-4FE4-A5CE-A2A10F4DC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02907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01820"/>
                </a:solidFill>
              </a:defRPr>
            </a:pPr>
            <a:r>
              <a:rPr sz="1650">
                <a:solidFill>
                  <a:srgbClr val="101820"/>
                </a:solidFill>
              </a:rPr>
              <a:t>Demo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9001DF3-5C65-4A0A-9E2C-13AFCB158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400550"/>
            <a:ext cx="285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353AD15-9248-4137-AF80-32F328E24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8630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99A3D"/>
                </a:solidFill>
              </a:defRPr>
            </a:pPr>
            <a:r>
              <a:rPr sz="1800" b="1">
                <a:solidFill>
                  <a:srgbClr val="C99A3D"/>
                </a:solidFill>
              </a:rPr>
              <a:t>10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A460588-D106-4183-B9A9-E86027055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71487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01820"/>
                </a:solidFill>
              </a:defRPr>
            </a:pPr>
            <a:r>
              <a:rPr sz="1650">
                <a:solidFill>
                  <a:srgbClr val="101820"/>
                </a:solidFill>
              </a:rPr>
              <a:t>Conclusion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E88C90E-C117-48E7-8A79-9DB36567B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086350"/>
            <a:ext cx="285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4CB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54981066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7C62DE3-EA6E-4D80-9E59-917007611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F6F73"/>
                </a:solidFill>
              </a:defRPr>
            </a:pPr>
            <a:r>
              <a:rPr sz="900" b="1">
                <a:solidFill>
                  <a:srgbClr val="0F6F73"/>
                </a:solidFill>
              </a:rPr>
              <a:t>INTRODUCTION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28CD8A-EBD1-4EC2-97B4-38BEF4A42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8096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1820"/>
                </a:solidFill>
              </a:defRPr>
            </a:pPr>
            <a:r>
              <a:rPr sz="2850" b="1">
                <a:solidFill>
                  <a:srgbClr val="101820"/>
                </a:solidFill>
              </a:rPr>
              <a:t>Carthage Transfer has the service; mobile adds the missing layer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79AB97-0C57-4A02-8867-0FCE7700F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674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A3600C-AF51-4E43-A731-994907F8C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1150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9646D"/>
                </a:solidFill>
              </a:defRPr>
            </a:pPr>
            <a:r>
              <a:rPr sz="1200" b="1">
                <a:solidFill>
                  <a:srgbClr val="59646D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0BF459-6D95-4FAF-A4A7-044B4EA72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36385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10182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ADD930-006E-4639-994F-AE363DF1A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241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Carthage Transfer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B758F1-3A2C-49CA-BD70-12952DBFA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71800"/>
            <a:ext cx="27813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D9E5E7"/>
                </a:solidFill>
              </a:defRPr>
            </a:pPr>
            <a:r>
              <a:rPr sz="1425">
                <a:solidFill>
                  <a:srgbClr val="D9E5E7"/>
                </a:solidFill>
              </a:rPr>
              <a:t>Luxury transport company based around Tunis Carthage Airport, serving airport transfers, tours, corporate travel, and events.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87272E-AE61-4AB9-81A9-01E7584AF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57700"/>
            <a:ext cx="12001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9A3D"/>
          </a:solidFill>
          <a:ln xmlns:a="http://schemas.openxmlformats.org/drawingml/2006/main" w="0">
            <a:solidFill>
              <a:srgbClr val="C99A3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2CD66E-E8CD-4D53-95AA-9BB698C42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24375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0"/>
                </a:solidFill>
              </a:defRPr>
            </a:pPr>
            <a:r>
              <a:rPr sz="975" b="1">
                <a:solidFill>
                  <a:srgbClr val="101820"/>
                </a:solidFill>
              </a:rPr>
              <a:t>Since 2012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C35E0D-64E2-4A39-B331-261442F67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457700"/>
            <a:ext cx="13144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E5E7"/>
          </a:solidFill>
          <a:ln xmlns:a="http://schemas.openxmlformats.org/drawingml/2006/main" w="0">
            <a:solidFill>
              <a:srgbClr val="D9E5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0B89B0-8172-44AD-856B-C4B722781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524375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0"/>
                </a:solidFill>
              </a:defRPr>
            </a:pPr>
            <a:r>
              <a:rPr sz="975" b="1">
                <a:solidFill>
                  <a:srgbClr val="101820"/>
                </a:solidFill>
              </a:rPr>
              <a:t>12+ vehicles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7D5908-4067-4D96-B0FE-F7DB58A93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952625"/>
            <a:ext cx="28575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4C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E7156A-C89E-4E08-8655-85AD6B53A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952625"/>
            <a:ext cx="57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F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972AA6-A6B1-478C-A70A-06AB70BDA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124075"/>
            <a:ext cx="2438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1820"/>
                </a:solidFill>
              </a:defRPr>
            </a:pPr>
            <a:r>
              <a:rPr sz="1575" b="1">
                <a:solidFill>
                  <a:srgbClr val="101820"/>
                </a:solidFill>
              </a:rPr>
              <a:t>Existing strength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A86596-BFFB-4A39-96CF-4FE61243A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505075"/>
            <a:ext cx="2438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9646D"/>
                </a:solidFill>
              </a:defRPr>
            </a:pPr>
            <a:r>
              <a:rPr sz="1200">
                <a:solidFill>
                  <a:srgbClr val="59646D"/>
                </a:solidFill>
              </a:rPr>
              <a:t>A working web booking platform with transparent EUR pricing.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92D61E-614E-4CA8-8901-B9C747BCF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52625"/>
            <a:ext cx="28575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4C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C3EC29-B857-4B8E-8348-7F7BB5B7C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52625"/>
            <a:ext cx="57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9C70A3-F264-446D-8AA8-97A7F88CD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124075"/>
            <a:ext cx="2438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1820"/>
                </a:solidFill>
              </a:defRPr>
            </a:pPr>
            <a:r>
              <a:rPr sz="1575" b="1">
                <a:solidFill>
                  <a:srgbClr val="101820"/>
                </a:solidFill>
              </a:rPr>
              <a:t>Mobile opportunity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AE3FA6-CE94-4410-B23A-767919ED0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505075"/>
            <a:ext cx="2438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9646D"/>
                </a:solidFill>
              </a:defRPr>
            </a:pPr>
            <a:r>
              <a:rPr sz="1200">
                <a:solidFill>
                  <a:srgbClr val="59646D"/>
                </a:solidFill>
              </a:rPr>
              <a:t>Faster booking for travelers already holding a phone at the airport.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243582-19FC-4FA2-9C20-9F2C9A11A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543300"/>
            <a:ext cx="28575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4C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B59FAA-6E52-4C70-8D0A-0C5BE7927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543300"/>
            <a:ext cx="57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F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6A0EDD-4CC4-45CC-B944-C6681EAA9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714750"/>
            <a:ext cx="2438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1820"/>
                </a:solidFill>
              </a:defRPr>
            </a:pPr>
            <a:r>
              <a:rPr sz="1575" b="1">
                <a:solidFill>
                  <a:srgbClr val="101820"/>
                </a:solidFill>
              </a:rPr>
              <a:t>Customer value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FA5317-7D7D-4800-8A85-D106CA67D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095750"/>
            <a:ext cx="2438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9646D"/>
                </a:solidFill>
              </a:defRPr>
            </a:pPr>
            <a:r>
              <a:rPr sz="1200">
                <a:solidFill>
                  <a:srgbClr val="59646D"/>
                </a:solidFill>
              </a:rPr>
              <a:t>Quicker re-booking, trip management, loyalty, and bilingual access.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E54E8A4-7062-44FE-B58A-FCE4FF33C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543300"/>
            <a:ext cx="28575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4C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10F46BE-0883-4E17-956A-5FED46C39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543300"/>
            <a:ext cx="57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812942-AAFA-45FE-93E2-47AAB074C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714750"/>
            <a:ext cx="2438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1820"/>
                </a:solidFill>
              </a:defRPr>
            </a:pPr>
            <a:r>
              <a:rPr sz="1575" b="1">
                <a:solidFill>
                  <a:srgbClr val="101820"/>
                </a:solidFill>
              </a:rPr>
              <a:t>Innovation value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9B93F17-171C-4430-B92F-9E75CD56A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095750"/>
            <a:ext cx="2438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9646D"/>
                </a:solidFill>
              </a:defRPr>
            </a:pPr>
            <a:r>
              <a:rPr sz="1200">
                <a:solidFill>
                  <a:srgbClr val="59646D"/>
                </a:solidFill>
              </a:rPr>
              <a:t>Voice-enabled AI assistance and smarter operator workflows.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C63E5D9-77F6-4C62-919B-0D4F92E03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219700"/>
            <a:ext cx="609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324D"/>
                </a:solidFill>
              </a:defRPr>
            </a:pPr>
            <a:r>
              <a:rPr sz="1725" b="1">
                <a:solidFill>
                  <a:srgbClr val="17324D"/>
                </a:solidFill>
              </a:rPr>
              <a:t>The project extends the existing service into a faster, smarter, mobile-first experience.</a:t>
            </a:r>
          </a:p>
        </p:txBody>
      </p:sp>
    </p:spTree>
    <p:extLst>
      <p:ext uri="{BB962C8B-B14F-4D97-AF65-F5344CB8AC3E}">
        <p14:creationId xmlns:p14="http://schemas.microsoft.com/office/powerpoint/2010/main" val="14988831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5C6209B-168B-4248-9BD4-1104CFBCC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D9E5E7"/>
                </a:solidFill>
              </a:defRPr>
            </a:pPr>
            <a:r>
              <a:rPr sz="900" b="1">
                <a:solidFill>
                  <a:srgbClr val="D9E5E7"/>
                </a:solidFill>
              </a:rPr>
              <a:t>PROBLEMATIC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70E356-3228-415A-99CE-6D3140D85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8096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The challenge is not booking alone, but control, speed, and intelligence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ED0B05-ED86-4682-95C1-DC7B1845C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674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5A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48F531-8D46-4808-989B-DC7FDF43D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1150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D9E5E7"/>
                </a:solidFill>
              </a:defRPr>
            </a:pPr>
            <a:r>
              <a:rPr sz="1200" b="1">
                <a:solidFill>
                  <a:srgbClr val="D9E5E7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1D75D4-E69D-438F-AD67-DDCC1EA23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52650"/>
            <a:ext cx="74295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How can a mobile app extend an existing luxury transport service with distance-based pricing, fleet management, and conversational AI?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813A2F-5418-4816-84A8-D604F2046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48100"/>
            <a:ext cx="1190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CE909F-A6CE-4100-9324-44CA63539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815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A809F2-0374-4D7E-8E4F-6C4BC1193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305300"/>
            <a:ext cx="6438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D9E5E7"/>
                </a:solidFill>
              </a:defRPr>
            </a:pPr>
            <a:r>
              <a:rPr sz="1500">
                <a:solidFill>
                  <a:srgbClr val="D9E5E7"/>
                </a:solidFill>
              </a:rPr>
              <a:t>Capture last-minute airport travelers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F5E56D-BA96-459B-8C64-2571F6F2B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387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E90B6C-8EEB-49CC-805C-E08B48808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762500"/>
            <a:ext cx="6438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D9E5E7"/>
                </a:solidFill>
              </a:defRPr>
            </a:pPr>
            <a:r>
              <a:rPr sz="1500">
                <a:solidFill>
                  <a:srgbClr val="D9E5E7"/>
                </a:solidFill>
              </a:rPr>
              <a:t>Let clients manage trips without calling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293AD1-4288-4196-ABAA-94B57A15B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959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DBE0DD-283B-4404-8727-8B2F81594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219700"/>
            <a:ext cx="6438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D9E5E7"/>
                </a:solidFill>
              </a:defRPr>
            </a:pPr>
            <a:r>
              <a:rPr sz="1500">
                <a:solidFill>
                  <a:srgbClr val="D9E5E7"/>
                </a:solidFill>
              </a:rPr>
              <a:t>Give operators visibility over pricing, fleet, and complaints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2FA787-3F6A-4D6F-8D7B-9F0913AA0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171700"/>
            <a:ext cx="2286000" cy="238125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335A6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43864F-28F0-4447-9FB0-5188DA505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819400"/>
            <a:ext cx="14859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Mobile app</a:t>
            </a:r>
          </a:p>
          <a:p xmlns:a="http://schemas.openxmlformats.org/drawingml/2006/main">
            <a:pPr algn="ctr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+</a:t>
            </a:r>
          </a:p>
          <a:p xmlns:a="http://schemas.openxmlformats.org/drawingml/2006/main">
            <a:pPr algn="ctr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AVA agent</a:t>
            </a:r>
          </a:p>
          <a:p xmlns:a="http://schemas.openxmlformats.org/drawingml/2006/main">
            <a:pPr algn="ctr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+</a:t>
            </a:r>
          </a:p>
          <a:p xmlns:a="http://schemas.openxmlformats.org/drawingml/2006/main">
            <a:pPr algn="ctr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Dashboard</a:t>
            </a:r>
          </a:p>
        </p:txBody>
      </p:sp>
    </p:spTree>
    <p:extLst>
      <p:ext uri="{BB962C8B-B14F-4D97-AF65-F5344CB8AC3E}">
        <p14:creationId xmlns:p14="http://schemas.microsoft.com/office/powerpoint/2010/main" val="62530562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0FA94FE-EF25-43CD-9EC0-C2BF6A580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F6F73"/>
                </a:solidFill>
              </a:defRPr>
            </a:pPr>
            <a:r>
              <a:rPr sz="900" b="1">
                <a:solidFill>
                  <a:srgbClr val="0F6F73"/>
                </a:solidFill>
              </a:rPr>
              <a:t>EXISTING SOLUTIONS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594F0F-4A9E-45B7-94AC-0C1F5823D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8096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1820"/>
                </a:solidFill>
              </a:defRPr>
            </a:pPr>
            <a:r>
              <a:rPr sz="2850" b="1">
                <a:solidFill>
                  <a:srgbClr val="101820"/>
                </a:solidFill>
              </a:rPr>
              <a:t>Each option solves part of the journey, but none covers the full operation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31F8EB-73A8-415B-B5C0-3F478B8E3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674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35743E-CC1F-469B-8E4B-0D7E999EA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1150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9646D"/>
                </a:solidFill>
              </a:defRPr>
            </a:pPr>
            <a:r>
              <a:rPr sz="1200" b="1">
                <a:solidFill>
                  <a:srgbClr val="59646D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702FD5-F5DD-475F-93E2-B4A907A7F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F6F73"/>
                </a:solidFill>
              </a:defRPr>
            </a:pPr>
            <a:r>
              <a:rPr sz="1200" b="1">
                <a:solidFill>
                  <a:srgbClr val="0F6F73"/>
                </a:solidFill>
              </a:rPr>
              <a:t>Solution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AA8E84-5348-42E2-8519-0BE7A9563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8097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F6F73"/>
                </a:solidFill>
              </a:defRPr>
            </a:pPr>
            <a:r>
              <a:rPr sz="1200" b="1">
                <a:solidFill>
                  <a:srgbClr val="0F6F73"/>
                </a:solidFill>
              </a:rPr>
              <a:t>Strength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67BC18-607B-4DB5-9F9C-03E838A8F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0975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F6F73"/>
                </a:solidFill>
              </a:defRPr>
            </a:pPr>
            <a:r>
              <a:rPr sz="1200" b="1">
                <a:solidFill>
                  <a:srgbClr val="0F6F73"/>
                </a:solidFill>
              </a:rPr>
              <a:t>Limit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3F6175-36C9-4842-A501-A62864A59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764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797010-6C76-41D6-8078-037A064A7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717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1820"/>
                </a:solidFill>
              </a:defRPr>
            </a:pPr>
            <a:r>
              <a:rPr sz="1425" b="1">
                <a:solidFill>
                  <a:srgbClr val="101820"/>
                </a:solidFill>
              </a:rPr>
              <a:t>Phone Booking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B3A47D-D967-4D6E-9238-064E60943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1717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9646D"/>
                </a:solidFill>
              </a:defRPr>
            </a:pPr>
            <a:r>
              <a:rPr sz="1350">
                <a:solidFill>
                  <a:srgbClr val="59646D"/>
                </a:solidFill>
              </a:rPr>
              <a:t>Direct and familiar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FC61EE-E34A-4C6F-9264-C12FA65DB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7170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9646D"/>
                </a:solidFill>
              </a:defRPr>
            </a:pPr>
            <a:r>
              <a:rPr sz="1350">
                <a:solidFill>
                  <a:srgbClr val="59646D"/>
                </a:solidFill>
              </a:rPr>
              <a:t>Manual, no history, hard to scale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394358-E5DE-434B-95A8-F030BE941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691F25-E38C-47EE-8244-A5D70EE10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622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1820"/>
                </a:solidFill>
              </a:defRPr>
            </a:pPr>
            <a:r>
              <a:rPr sz="1425" b="1">
                <a:solidFill>
                  <a:srgbClr val="101820"/>
                </a:solidFill>
              </a:rPr>
              <a:t>Uber / Bolt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B052F5-A352-4A19-834B-71914E990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622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9646D"/>
                </a:solidFill>
              </a:defRPr>
            </a:pPr>
            <a:r>
              <a:rPr sz="1350">
                <a:solidFill>
                  <a:srgbClr val="59646D"/>
                </a:solidFill>
              </a:rPr>
              <a:t>Online and GPS-based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43014C-0F75-4FCD-B138-E16A990F2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76225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9646D"/>
                </a:solidFill>
              </a:defRPr>
            </a:pPr>
            <a:r>
              <a:rPr sz="1350">
                <a:solidFill>
                  <a:srgbClr val="59646D"/>
                </a:solidFill>
              </a:rPr>
              <a:t>Limited local fit, no luxury fleet control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F405B4-1A76-4F8F-83AB-6401A10D1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575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A47004-67C7-4D43-A0C6-37D0CB745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528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1820"/>
                </a:solidFill>
              </a:defRPr>
            </a:pPr>
            <a:r>
              <a:rPr sz="1425" b="1">
                <a:solidFill>
                  <a:srgbClr val="101820"/>
                </a:solidFill>
              </a:rPr>
              <a:t>WhatsApp / Facebook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3947C7-8FC5-4572-A809-B0D0E5F91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3528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9646D"/>
                </a:solidFill>
              </a:defRPr>
            </a:pPr>
            <a:r>
              <a:rPr sz="1350">
                <a:solidFill>
                  <a:srgbClr val="59646D"/>
                </a:solidFill>
              </a:rPr>
              <a:t>Simple and widely used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A5A19D-D2B1-4895-92B6-D9B518A83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35280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9646D"/>
                </a:solidFill>
              </a:defRPr>
            </a:pPr>
            <a:r>
              <a:rPr sz="1350">
                <a:solidFill>
                  <a:srgbClr val="59646D"/>
                </a:solidFill>
              </a:rPr>
              <a:t>No pricing engine or analytics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E9845F-209D-4025-B483-C081F36A0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481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840E4A-120C-400A-A02B-DE75AC596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433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1820"/>
                </a:solidFill>
              </a:defRPr>
            </a:pPr>
            <a:r>
              <a:rPr sz="1425" b="1">
                <a:solidFill>
                  <a:srgbClr val="101820"/>
                </a:solidFill>
              </a:rPr>
              <a:t>Transfer Platforms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38EB80-9F23-4394-A4E6-10A8FB648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9433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9646D"/>
                </a:solidFill>
              </a:defRPr>
            </a:pPr>
            <a:r>
              <a:rPr sz="1350">
                <a:solidFill>
                  <a:srgbClr val="59646D"/>
                </a:solidFill>
              </a:rPr>
              <a:t>Specialized booking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F42EBE-207F-40D6-930B-B762E5D37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94335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9646D"/>
                </a:solidFill>
              </a:defRPr>
            </a:pPr>
            <a:r>
              <a:rPr sz="1350">
                <a:solidFill>
                  <a:srgbClr val="59646D"/>
                </a:solidFill>
              </a:rPr>
              <a:t>Commission-heavy, less operator control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7B0CD2-134F-4536-A16E-EE05A5CE8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386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826608-0E47-4162-9D53-2C0FBCBA0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339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1820"/>
                </a:solidFill>
              </a:defRPr>
            </a:pPr>
            <a:r>
              <a:rPr sz="1425" b="1">
                <a:solidFill>
                  <a:srgbClr val="101820"/>
                </a:solidFill>
              </a:rPr>
              <a:t>Current CT Website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C938ED2-4937-4A57-86B6-E8040800C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5339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9646D"/>
                </a:solidFill>
              </a:defRPr>
            </a:pPr>
            <a:r>
              <a:rPr sz="1350">
                <a:solidFill>
                  <a:srgbClr val="59646D"/>
                </a:solidFill>
              </a:rPr>
              <a:t>Own brand and EUR pricing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8333602-C3C8-48C3-A1CC-E14388568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53390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9646D"/>
                </a:solidFill>
              </a:defRPr>
            </a:pPr>
            <a:r>
              <a:rPr sz="1350">
                <a:solidFill>
                  <a:srgbClr val="59646D"/>
                </a:solidFill>
              </a:rPr>
              <a:t>Desktop-first, no AI or loyalty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037F392-E2B3-4443-9435-75D4C4306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81625"/>
            <a:ext cx="98107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17FB1E8-4871-45FF-9DE4-B772D6226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524500"/>
            <a:ext cx="914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Key gap: mobile-native booking, dynamic pricing, AI support, loyalty, and operator analytics in one platform.</a:t>
            </a:r>
          </a:p>
        </p:txBody>
      </p:sp>
    </p:spTree>
    <p:extLst>
      <p:ext uri="{BB962C8B-B14F-4D97-AF65-F5344CB8AC3E}">
        <p14:creationId xmlns:p14="http://schemas.microsoft.com/office/powerpoint/2010/main" val="52529162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C24A8A0-9824-472C-A595-8FC5718C9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F6F73"/>
                </a:solidFill>
              </a:defRPr>
            </a:pPr>
            <a:r>
              <a:rPr sz="900" b="1">
                <a:solidFill>
                  <a:srgbClr val="0F6F73"/>
                </a:solidFill>
              </a:rPr>
              <a:t>OUR SOLUTION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06A6F2-9071-4FBD-8B74-6187DB0A3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8096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1820"/>
                </a:solidFill>
              </a:defRPr>
            </a:pPr>
            <a:r>
              <a:rPr sz="2850" b="1">
                <a:solidFill>
                  <a:srgbClr val="101820"/>
                </a:solidFill>
              </a:rPr>
              <a:t>One mobile platform connects clients, pricing, AI, and operations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E53D92-160A-41A3-9C2C-686A0A96F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674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AF8640-277B-472F-8548-E1FC8A3DA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1150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9646D"/>
                </a:solidFill>
              </a:defRPr>
            </a:pPr>
            <a:r>
              <a:rPr sz="1200" b="1">
                <a:solidFill>
                  <a:srgbClr val="59646D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6AA785-384B-452A-B364-390C6C7C2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1809750" cy="23812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4C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F17DE0-AB64-46B6-82EB-9DAE1332D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571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F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392435-1311-4AA9-9E08-B9AFE4223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66950"/>
            <a:ext cx="1390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1820"/>
                </a:solidFill>
              </a:defRPr>
            </a:pPr>
            <a:r>
              <a:rPr sz="1575" b="1">
                <a:solidFill>
                  <a:srgbClr val="101820"/>
                </a:solidFill>
              </a:rPr>
              <a:t>Client App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F8D949-5831-4865-B712-C6D8C8569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47950"/>
            <a:ext cx="13906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9646D"/>
                </a:solidFill>
              </a:defRPr>
            </a:pPr>
            <a:r>
              <a:rPr sz="1200">
                <a:solidFill>
                  <a:srgbClr val="59646D"/>
                </a:solidFill>
              </a:rPr>
              <a:t>Google Maps booking</a:t>
            </a:r>
          </a:p>
          <a:p xmlns:a="http://schemas.openxmlformats.org/drawingml/2006/main">
            <a:pPr>
              <a:defRPr sz="1200">
                <a:solidFill>
                  <a:srgbClr val="59646D"/>
                </a:solidFill>
              </a:defRPr>
            </a:pPr>
            <a:r>
              <a:rPr sz="1200">
                <a:solidFill>
                  <a:srgbClr val="59646D"/>
                </a:solidFill>
              </a:rPr>
              <a:t>Real fleet quotes in EUR</a:t>
            </a:r>
          </a:p>
          <a:p xmlns:a="http://schemas.openxmlformats.org/drawingml/2006/main">
            <a:pPr>
              <a:defRPr sz="1200">
                <a:solidFill>
                  <a:srgbClr val="59646D"/>
                </a:solidFill>
              </a:defRPr>
            </a:pPr>
            <a:r>
              <a:rPr sz="1200">
                <a:solidFill>
                  <a:srgbClr val="59646D"/>
                </a:solidFill>
              </a:rPr>
              <a:t>Cash approval flow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B592B6-9119-4CCF-ABBD-3CAD4640B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19625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6F73"/>
                </a:solidFill>
              </a:defRPr>
            </a:pPr>
            <a:r>
              <a:rPr sz="1800" b="1">
                <a:solidFill>
                  <a:srgbClr val="0F6F73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D58ECB-151E-4C56-8C56-66A4A191A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095500"/>
            <a:ext cx="1809750" cy="23812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4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4C76BC-ADC5-45B9-8A64-A044B25DB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095500"/>
            <a:ext cx="571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39E919-DD0F-48E2-BDA3-FF82CD07A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66950"/>
            <a:ext cx="1390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1820"/>
                </a:solidFill>
              </a:defRPr>
            </a:pPr>
            <a:r>
              <a:rPr sz="1575" b="1">
                <a:solidFill>
                  <a:srgbClr val="101820"/>
                </a:solidFill>
              </a:rPr>
              <a:t>Pricing Engine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24559A-D44D-4D17-9456-A466F974B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647950"/>
            <a:ext cx="13906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9646D"/>
                </a:solidFill>
              </a:defRPr>
            </a:pPr>
            <a:r>
              <a:rPr sz="1200">
                <a:solidFill>
                  <a:srgbClr val="59646D"/>
                </a:solidFill>
              </a:rPr>
              <a:t>Directions distance</a:t>
            </a:r>
          </a:p>
          <a:p xmlns:a="http://schemas.openxmlformats.org/drawingml/2006/main">
            <a:pPr>
              <a:defRPr sz="1200">
                <a:solidFill>
                  <a:srgbClr val="59646D"/>
                </a:solidFill>
              </a:defRPr>
            </a:pPr>
            <a:r>
              <a:rPr sz="1200">
                <a:solidFill>
                  <a:srgbClr val="59646D"/>
                </a:solidFill>
              </a:rPr>
              <a:t>Per-vehicle rate cards</a:t>
            </a:r>
          </a:p>
          <a:p xmlns:a="http://schemas.openxmlformats.org/drawingml/2006/main">
            <a:pPr>
              <a:defRPr sz="1200">
                <a:solidFill>
                  <a:srgbClr val="59646D"/>
                </a:solidFill>
              </a:defRPr>
            </a:pPr>
            <a:r>
              <a:rPr sz="1200">
                <a:solidFill>
                  <a:srgbClr val="59646D"/>
                </a:solidFill>
              </a:rPr>
              <a:t>Surcharges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66A785-219E-40E7-9A0B-AB4A2DA65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619625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99A3D"/>
                </a:solidFill>
              </a:defRPr>
            </a:pPr>
            <a:r>
              <a:rPr sz="1800" b="1">
                <a:solidFill>
                  <a:srgbClr val="C99A3D"/>
                </a:solidFill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713755-4412-4E3D-8AD2-4B7BD8104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095500"/>
            <a:ext cx="1809750" cy="23812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4C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9B596B-206B-4DCF-A536-0444E2392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095500"/>
            <a:ext cx="571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F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4B76C8-97FB-4624-8A8A-4AE281807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266950"/>
            <a:ext cx="1390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1820"/>
                </a:solidFill>
              </a:defRPr>
            </a:pPr>
            <a:r>
              <a:rPr sz="1575" b="1">
                <a:solidFill>
                  <a:srgbClr val="101820"/>
                </a:solidFill>
              </a:rPr>
              <a:t>Admin Dashboard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87E5B1-BB15-4D6F-977B-1F88B7B20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647950"/>
            <a:ext cx="13906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9646D"/>
                </a:solidFill>
              </a:defRPr>
            </a:pPr>
            <a:r>
              <a:rPr sz="1200">
                <a:solidFill>
                  <a:srgbClr val="59646D"/>
                </a:solidFill>
              </a:rPr>
              <a:t>Fleet and pricing editor</a:t>
            </a:r>
          </a:p>
          <a:p xmlns:a="http://schemas.openxmlformats.org/drawingml/2006/main">
            <a:pPr>
              <a:defRPr sz="1200">
                <a:solidFill>
                  <a:srgbClr val="59646D"/>
                </a:solidFill>
              </a:defRPr>
            </a:pPr>
            <a:r>
              <a:rPr sz="1200">
                <a:solidFill>
                  <a:srgbClr val="59646D"/>
                </a:solidFill>
              </a:rPr>
              <a:t>Complaints and approvals</a:t>
            </a:r>
          </a:p>
          <a:p xmlns:a="http://schemas.openxmlformats.org/drawingml/2006/main">
            <a:pPr>
              <a:defRPr sz="1200">
                <a:solidFill>
                  <a:srgbClr val="59646D"/>
                </a:solidFill>
              </a:defRPr>
            </a:pPr>
            <a:r>
              <a:rPr sz="1200">
                <a:solidFill>
                  <a:srgbClr val="59646D"/>
                </a:solidFill>
              </a:rPr>
              <a:t>Revenue analytics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50351E-00EA-4705-B77E-760F05705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619625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6F73"/>
                </a:solidFill>
              </a:defRPr>
            </a:pPr>
            <a:r>
              <a:rPr sz="1800" b="1">
                <a:solidFill>
                  <a:srgbClr val="0F6F73"/>
                </a:solidFill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04E6C2-B6D2-4CA0-B6C6-7E1D373A5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95500"/>
            <a:ext cx="1809750" cy="23812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4C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DB48BD-3353-4273-AA62-1CD936C7D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95500"/>
            <a:ext cx="571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23A783-EC7D-4E7F-B812-9D23B631D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266950"/>
            <a:ext cx="1390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1820"/>
                </a:solidFill>
              </a:defRPr>
            </a:pPr>
            <a:r>
              <a:rPr sz="1575" b="1">
                <a:solidFill>
                  <a:srgbClr val="101820"/>
                </a:solidFill>
              </a:rPr>
              <a:t>AVA AI Agent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5B4795-B677-46B0-9B1C-493673DCB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647950"/>
            <a:ext cx="13906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9646D"/>
                </a:solidFill>
              </a:defRPr>
            </a:pPr>
            <a:r>
              <a:rPr sz="1200">
                <a:solidFill>
                  <a:srgbClr val="59646D"/>
                </a:solidFill>
              </a:rPr>
              <a:t>RAG support</a:t>
            </a:r>
          </a:p>
          <a:p xmlns:a="http://schemas.openxmlformats.org/drawingml/2006/main">
            <a:pPr>
              <a:defRPr sz="1200">
                <a:solidFill>
                  <a:srgbClr val="59646D"/>
                </a:solidFill>
              </a:defRPr>
            </a:pPr>
            <a:r>
              <a:rPr sz="1200">
                <a:solidFill>
                  <a:srgbClr val="59646D"/>
                </a:solidFill>
              </a:rPr>
              <a:t>Booking actions</a:t>
            </a:r>
          </a:p>
          <a:p xmlns:a="http://schemas.openxmlformats.org/drawingml/2006/main">
            <a:pPr>
              <a:defRPr sz="1200">
                <a:solidFill>
                  <a:srgbClr val="59646D"/>
                </a:solidFill>
              </a:defRPr>
            </a:pPr>
            <a:r>
              <a:rPr sz="1200">
                <a:solidFill>
                  <a:srgbClr val="59646D"/>
                </a:solidFill>
              </a:rPr>
              <a:t>Admin BI insights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6A2387-1592-4F9A-8D3D-2445E5CE0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619625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99A3D"/>
                </a:solidFill>
              </a:defRPr>
            </a:pPr>
            <a:r>
              <a:rPr sz="1800" b="1">
                <a:solidFill>
                  <a:srgbClr val="C99A3D"/>
                </a:solidFill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E18792-5D54-4160-9FF0-002D2EE76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095500"/>
            <a:ext cx="1809750" cy="23812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4C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F449A1A-540B-4DB5-BAF1-21618664B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095500"/>
            <a:ext cx="571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F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6458D38-DF5B-4998-BD83-9BAF3D6E1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266950"/>
            <a:ext cx="1390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1820"/>
                </a:solidFill>
              </a:defRPr>
            </a:pPr>
            <a:r>
              <a:rPr sz="1575" b="1">
                <a:solidFill>
                  <a:srgbClr val="101820"/>
                </a:solidFill>
              </a:rPr>
              <a:t>Loyalty &amp; UX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C75E028-543A-4750-A1FD-CBA62F058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647950"/>
            <a:ext cx="13906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9646D"/>
                </a:solidFill>
              </a:defRPr>
            </a:pPr>
            <a:r>
              <a:rPr sz="1200">
                <a:solidFill>
                  <a:srgbClr val="59646D"/>
                </a:solidFill>
              </a:rPr>
              <a:t>4-tier rewards</a:t>
            </a:r>
          </a:p>
          <a:p xmlns:a="http://schemas.openxmlformats.org/drawingml/2006/main">
            <a:pPr>
              <a:defRPr sz="1200">
                <a:solidFill>
                  <a:srgbClr val="59646D"/>
                </a:solidFill>
              </a:defRPr>
            </a:pPr>
            <a:r>
              <a:rPr sz="1200">
                <a:solidFill>
                  <a:srgbClr val="59646D"/>
                </a:solidFill>
              </a:rPr>
              <a:t>Bilingual experience</a:t>
            </a:r>
          </a:p>
          <a:p xmlns:a="http://schemas.openxmlformats.org/drawingml/2006/main">
            <a:pPr>
              <a:defRPr sz="1200">
                <a:solidFill>
                  <a:srgbClr val="59646D"/>
                </a:solidFill>
              </a:defRPr>
            </a:pPr>
            <a:r>
              <a:rPr sz="1200">
                <a:solidFill>
                  <a:srgbClr val="59646D"/>
                </a:solidFill>
              </a:rPr>
              <a:t>Destination guide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DAA15F-E5EF-4516-8B66-BB18E2A93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619625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6F73"/>
                </a:solidFill>
              </a:defRPr>
            </a:pPr>
            <a:r>
              <a:rPr sz="1800" b="1">
                <a:solidFill>
                  <a:srgbClr val="0F6F73"/>
                </a:solidFill>
              </a:rPr>
              <a:t>05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F9504E9-CDF4-419C-BE16-EC337414B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81625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324D"/>
                </a:solidFill>
              </a:defRPr>
            </a:pPr>
            <a:r>
              <a:rPr sz="1800" b="1">
                <a:solidFill>
                  <a:srgbClr val="17324D"/>
                </a:solidFill>
              </a:rPr>
              <a:t>The result is a complete booking and management experience, not just a mobile form.</a:t>
            </a:r>
          </a:p>
        </p:txBody>
      </p:sp>
    </p:spTree>
    <p:extLst>
      <p:ext uri="{BB962C8B-B14F-4D97-AF65-F5344CB8AC3E}">
        <p14:creationId xmlns:p14="http://schemas.microsoft.com/office/powerpoint/2010/main" val="48590522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CF0D7B5-EB2B-426A-AB4F-F4CE1F995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F6F73"/>
                </a:solidFill>
              </a:defRPr>
            </a:pPr>
            <a:r>
              <a:rPr sz="900" b="1">
                <a:solidFill>
                  <a:srgbClr val="0F6F73"/>
                </a:solidFill>
              </a:rPr>
              <a:t>METHODOLOGY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6AB847-CA05-4487-91FF-B73A930E6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8096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1820"/>
                </a:solidFill>
              </a:defRPr>
            </a:pPr>
            <a:r>
              <a:rPr sz="2850" b="1">
                <a:solidFill>
                  <a:srgbClr val="101820"/>
                </a:solidFill>
              </a:rPr>
              <a:t>Scrum helped deliver working features sprint by sprint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626897-745F-41B3-B21F-3D71D2222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674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2BE02C-29C9-4222-8788-0826027BB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1150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9646D"/>
                </a:solidFill>
              </a:defRPr>
            </a:pPr>
            <a:r>
              <a:rPr sz="1200" b="1">
                <a:solidFill>
                  <a:srgbClr val="59646D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FDFECD-C288-4F7F-BC45-E9C154EB5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24100"/>
            <a:ext cx="2095500" cy="2476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4C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9812B0-0B5A-442C-AEE7-38C79ADF3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24100"/>
            <a:ext cx="2095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F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341459-94B3-4CCB-813E-10B755E43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686050"/>
            <a:ext cx="1600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01820"/>
                </a:solidFill>
              </a:defRPr>
            </a:pPr>
            <a:r>
              <a:rPr sz="1875" b="1">
                <a:solidFill>
                  <a:srgbClr val="101820"/>
                </a:solidFill>
              </a:rPr>
              <a:t>Sprint 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932F56-0A59-4010-BC22-B144F41AA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314700"/>
            <a:ext cx="1428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59646D"/>
                </a:solidFill>
              </a:defRPr>
            </a:pPr>
            <a:r>
              <a:rPr sz="1350">
                <a:solidFill>
                  <a:srgbClr val="59646D"/>
                </a:solidFill>
              </a:rPr>
              <a:t>Setup</a:t>
            </a:r>
          </a:p>
          <a:p xmlns:a="http://schemas.openxmlformats.org/drawingml/2006/main">
            <a:pPr algn="ctr">
              <a:defRPr sz="1350">
                <a:solidFill>
                  <a:srgbClr val="59646D"/>
                </a:solidFill>
              </a:defRPr>
            </a:pPr>
            <a:r>
              <a:rPr sz="1350">
                <a:solidFill>
                  <a:srgbClr val="59646D"/>
                </a:solidFill>
              </a:rPr>
              <a:t>Architecture</a:t>
            </a:r>
          </a:p>
          <a:p xmlns:a="http://schemas.openxmlformats.org/drawingml/2006/main">
            <a:pPr algn="ctr">
              <a:defRPr sz="1350">
                <a:solidFill>
                  <a:srgbClr val="59646D"/>
                </a:solidFill>
              </a:defRPr>
            </a:pPr>
            <a:r>
              <a:rPr sz="1350">
                <a:solidFill>
                  <a:srgbClr val="59646D"/>
                </a:solidFill>
              </a:rPr>
              <a:t>DB design</a:t>
            </a:r>
          </a:p>
          <a:p xmlns:a="http://schemas.openxmlformats.org/drawingml/2006/main">
            <a:pPr algn="ctr">
              <a:defRPr sz="1350">
                <a:solidFill>
                  <a:srgbClr val="59646D"/>
                </a:solidFill>
              </a:defRPr>
            </a:pPr>
            <a:r>
              <a:rPr sz="1350">
                <a:solidFill>
                  <a:srgbClr val="59646D"/>
                </a:solidFill>
              </a:rPr>
              <a:t>UI mockups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D641E9-0E80-4E0E-91FF-47D39920E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33375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99A3D"/>
                </a:solidFill>
              </a:defRPr>
            </a:pPr>
            <a:r>
              <a:rPr sz="1800" b="1">
                <a:solidFill>
                  <a:srgbClr val="C99A3D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F3CE36-E46E-483E-B908-19FD9CD97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324100"/>
            <a:ext cx="2095500" cy="2476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4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1E03E5-F24A-46E6-BED9-23BD0F1C4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324100"/>
            <a:ext cx="2095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70C1CE-929B-4853-873D-0C8E2A9F4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686050"/>
            <a:ext cx="1600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01820"/>
                </a:solidFill>
              </a:defRPr>
            </a:pPr>
            <a:r>
              <a:rPr sz="1875" b="1">
                <a:solidFill>
                  <a:srgbClr val="101820"/>
                </a:solidFill>
              </a:rPr>
              <a:t>Sprint 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70F442-C291-4ABF-9499-9C97452E8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3314700"/>
            <a:ext cx="1428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59646D"/>
                </a:solidFill>
              </a:defRPr>
            </a:pPr>
            <a:r>
              <a:rPr sz="1350">
                <a:solidFill>
                  <a:srgbClr val="59646D"/>
                </a:solidFill>
              </a:rPr>
              <a:t>JWT auth</a:t>
            </a:r>
          </a:p>
          <a:p xmlns:a="http://schemas.openxmlformats.org/drawingml/2006/main">
            <a:pPr algn="ctr">
              <a:defRPr sz="1350">
                <a:solidFill>
                  <a:srgbClr val="59646D"/>
                </a:solidFill>
              </a:defRPr>
            </a:pPr>
            <a:r>
              <a:rPr sz="1350">
                <a:solidFill>
                  <a:srgbClr val="59646D"/>
                </a:solidFill>
              </a:rPr>
              <a:t>Profiles</a:t>
            </a:r>
          </a:p>
          <a:p xmlns:a="http://schemas.openxmlformats.org/drawingml/2006/main">
            <a:pPr algn="ctr">
              <a:defRPr sz="1350">
                <a:solidFill>
                  <a:srgbClr val="59646D"/>
                </a:solidFill>
              </a:defRPr>
            </a:pPr>
            <a:r>
              <a:rPr sz="1350">
                <a:solidFill>
                  <a:srgbClr val="59646D"/>
                </a:solidFill>
              </a:rPr>
              <a:t>Vehicle CRUD</a:t>
            </a:r>
          </a:p>
          <a:p xmlns:a="http://schemas.openxmlformats.org/drawingml/2006/main">
            <a:pPr algn="ctr">
              <a:defRPr sz="1350">
                <a:solidFill>
                  <a:srgbClr val="59646D"/>
                </a:solidFill>
              </a:defRPr>
            </a:pPr>
            <a:r>
              <a:rPr sz="1350">
                <a:solidFill>
                  <a:srgbClr val="59646D"/>
                </a:solidFill>
              </a:rPr>
              <a:t>Suppliers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F48BE6-30C0-4F29-BA21-24477B00D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33375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99A3D"/>
                </a:solidFill>
              </a:defRPr>
            </a:pPr>
            <a:r>
              <a:rPr sz="1800" b="1">
                <a:solidFill>
                  <a:srgbClr val="C99A3D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5EDD57-D521-4CEF-AAC0-A31611AE4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24100"/>
            <a:ext cx="2095500" cy="2476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4C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BCDEBE-FEED-4A81-8865-CFC77F224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24100"/>
            <a:ext cx="2095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F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FA1DCE-BA08-4DDE-A542-E93B1A390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686050"/>
            <a:ext cx="1600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01820"/>
                </a:solidFill>
              </a:defRPr>
            </a:pPr>
            <a:r>
              <a:rPr sz="1875" b="1">
                <a:solidFill>
                  <a:srgbClr val="101820"/>
                </a:solidFill>
              </a:rPr>
              <a:t>Sprint 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61FCAE-EF5D-42CF-A36C-BF542E2A7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314700"/>
            <a:ext cx="1428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59646D"/>
                </a:solidFill>
              </a:defRPr>
            </a:pPr>
            <a:r>
              <a:rPr sz="1350">
                <a:solidFill>
                  <a:srgbClr val="59646D"/>
                </a:solidFill>
              </a:rPr>
              <a:t>Booking flow</a:t>
            </a:r>
          </a:p>
          <a:p xmlns:a="http://schemas.openxmlformats.org/drawingml/2006/main">
            <a:pPr algn="ctr">
              <a:defRPr sz="1350">
                <a:solidFill>
                  <a:srgbClr val="59646D"/>
                </a:solidFill>
              </a:defRPr>
            </a:pPr>
            <a:r>
              <a:rPr sz="1350">
                <a:solidFill>
                  <a:srgbClr val="59646D"/>
                </a:solidFill>
              </a:rPr>
              <a:t>Pricing engine</a:t>
            </a:r>
          </a:p>
          <a:p xmlns:a="http://schemas.openxmlformats.org/drawingml/2006/main">
            <a:pPr algn="ctr">
              <a:defRPr sz="1350">
                <a:solidFill>
                  <a:srgbClr val="59646D"/>
                </a:solidFill>
              </a:defRPr>
            </a:pPr>
            <a:r>
              <a:rPr sz="1350">
                <a:solidFill>
                  <a:srgbClr val="59646D"/>
                </a:solidFill>
              </a:rPr>
              <a:t>Promotions</a:t>
            </a:r>
          </a:p>
          <a:p xmlns:a="http://schemas.openxmlformats.org/drawingml/2006/main">
            <a:pPr algn="ctr">
              <a:defRPr sz="1350">
                <a:solidFill>
                  <a:srgbClr val="59646D"/>
                </a:solidFill>
              </a:defRPr>
            </a:pPr>
            <a:r>
              <a:rPr sz="1350">
                <a:solidFill>
                  <a:srgbClr val="59646D"/>
                </a:solidFill>
              </a:rPr>
              <a:t>Loyalty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59DEFB-9F67-4A0C-8286-A98624D8C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33375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99A3D"/>
                </a:solidFill>
              </a:defRPr>
            </a:pPr>
            <a:r>
              <a:rPr sz="1800" b="1">
                <a:solidFill>
                  <a:srgbClr val="C99A3D"/>
                </a:solidFill>
              </a:rPr>
              <a:t>-&gt;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C0545A-4928-42F8-8038-F9405FFC4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324100"/>
            <a:ext cx="2095500" cy="2476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4C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0560A8-C5B8-45A4-8242-B8C1319D4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324100"/>
            <a:ext cx="2095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7CA3FE-3047-4C90-97E9-5D62EA154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686050"/>
            <a:ext cx="1600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01820"/>
                </a:solidFill>
              </a:defRPr>
            </a:pPr>
            <a:r>
              <a:rPr sz="1875" b="1">
                <a:solidFill>
                  <a:srgbClr val="101820"/>
                </a:solidFill>
              </a:rPr>
              <a:t>Sprint 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C2FCC7-3DA8-4EB6-8A67-76978C97D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3314700"/>
            <a:ext cx="1428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59646D"/>
                </a:solidFill>
              </a:defRPr>
            </a:pPr>
            <a:r>
              <a:rPr sz="1350">
                <a:solidFill>
                  <a:srgbClr val="59646D"/>
                </a:solidFill>
              </a:rPr>
              <a:t>Admin dashboard</a:t>
            </a:r>
          </a:p>
          <a:p xmlns:a="http://schemas.openxmlformats.org/drawingml/2006/main">
            <a:pPr algn="ctr">
              <a:defRPr sz="1350">
                <a:solidFill>
                  <a:srgbClr val="59646D"/>
                </a:solidFill>
              </a:defRPr>
            </a:pPr>
            <a:r>
              <a:rPr sz="1350">
                <a:solidFill>
                  <a:srgbClr val="59646D"/>
                </a:solidFill>
              </a:rPr>
              <a:t>AVA agent</a:t>
            </a:r>
          </a:p>
          <a:p xmlns:a="http://schemas.openxmlformats.org/drawingml/2006/main">
            <a:pPr algn="ctr">
              <a:defRPr sz="1350">
                <a:solidFill>
                  <a:srgbClr val="59646D"/>
                </a:solidFill>
              </a:defRPr>
            </a:pPr>
            <a:r>
              <a:rPr sz="1350">
                <a:solidFill>
                  <a:srgbClr val="59646D"/>
                </a:solidFill>
              </a:rPr>
              <a:t>Complaints</a:t>
            </a:r>
          </a:p>
          <a:p xmlns:a="http://schemas.openxmlformats.org/drawingml/2006/main">
            <a:pPr algn="ctr">
              <a:defRPr sz="1350">
                <a:solidFill>
                  <a:srgbClr val="59646D"/>
                </a:solidFill>
              </a:defRPr>
            </a:pPr>
            <a:r>
              <a:rPr sz="1350">
                <a:solidFill>
                  <a:srgbClr val="59646D"/>
                </a:solidFill>
              </a:rPr>
              <a:t>Testing &amp; deploy</a:t>
            </a:r>
          </a:p>
        </p:txBody>
      </p:sp>
    </p:spTree>
    <p:extLst>
      <p:ext uri="{BB962C8B-B14F-4D97-AF65-F5344CB8AC3E}">
        <p14:creationId xmlns:p14="http://schemas.microsoft.com/office/powerpoint/2010/main" val="175043016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A8C3EFC-7C9B-4DA0-B2A7-7B6ED8E98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F6F73"/>
                </a:solidFill>
              </a:defRPr>
            </a:pPr>
            <a:r>
              <a:rPr sz="900" b="1">
                <a:solidFill>
                  <a:srgbClr val="0F6F73"/>
                </a:solidFill>
              </a:rPr>
              <a:t>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C906CC-FF85-4D5C-B2C5-B3DAFCF25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8096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1820"/>
                </a:solidFill>
              </a:defRPr>
            </a:pPr>
            <a:r>
              <a:rPr sz="2850" b="1">
                <a:solidFill>
                  <a:srgbClr val="101820"/>
                </a:solidFill>
              </a:rPr>
              <a:t>The platform is split into mobile, API/AI, and data infrastructure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7E1DA1-1063-4DC4-8E2B-9744DA51A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674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0F5E4F-DF3F-47FA-80C6-A6C275A89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1150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9646D"/>
                </a:solidFill>
              </a:defRPr>
            </a:pPr>
            <a:r>
              <a:rPr sz="1200" b="1">
                <a:solidFill>
                  <a:srgbClr val="59646D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DC86C3-6103-4973-A423-DA9FF43F7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26670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4C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5FD50A-3FA8-494F-A9E3-A5F197327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552700"/>
            <a:ext cx="2171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01820"/>
                </a:solidFill>
              </a:defRPr>
            </a:pPr>
            <a:r>
              <a:rPr sz="2025" b="1">
                <a:solidFill>
                  <a:srgbClr val="101820"/>
                </a:solidFill>
              </a:rPr>
              <a:t>Frontend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F25162-6485-419E-B718-32ADFDE6D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181350"/>
            <a:ext cx="20574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59646D"/>
                </a:solidFill>
              </a:defRPr>
            </a:pPr>
            <a:r>
              <a:rPr sz="1275">
                <a:solidFill>
                  <a:srgbClr val="59646D"/>
                </a:solidFill>
              </a:rPr>
              <a:t>Flutter 3.3+ / Dart</a:t>
            </a:r>
          </a:p>
          <a:p xmlns:a="http://schemas.openxmlformats.org/drawingml/2006/main">
            <a:pPr algn="ctr">
              <a:defRPr sz="1275">
                <a:solidFill>
                  <a:srgbClr val="59646D"/>
                </a:solidFill>
              </a:defRPr>
            </a:pPr>
            <a:r>
              <a:rPr sz="1275">
                <a:solidFill>
                  <a:srgbClr val="59646D"/>
                </a:solidFill>
              </a:rPr>
              <a:t>Material Design 3</a:t>
            </a:r>
          </a:p>
          <a:p xmlns:a="http://schemas.openxmlformats.org/drawingml/2006/main">
            <a:pPr algn="ctr">
              <a:defRPr sz="1275">
                <a:solidFill>
                  <a:srgbClr val="59646D"/>
                </a:solidFill>
              </a:defRPr>
            </a:pPr>
            <a:r>
              <a:rPr sz="1275">
                <a:solidFill>
                  <a:srgbClr val="59646D"/>
                </a:solidFill>
              </a:rPr>
              <a:t>Google Maps</a:t>
            </a:r>
          </a:p>
          <a:p xmlns:a="http://schemas.openxmlformats.org/drawingml/2006/main">
            <a:pPr algn="ctr">
              <a:defRPr sz="1275">
                <a:solidFill>
                  <a:srgbClr val="59646D"/>
                </a:solidFill>
              </a:defRPr>
            </a:pPr>
            <a:r>
              <a:rPr sz="1275">
                <a:solidFill>
                  <a:srgbClr val="59646D"/>
                </a:solidFill>
              </a:rPr>
              <a:t>fl_chart</a:t>
            </a:r>
          </a:p>
          <a:p xmlns:a="http://schemas.openxmlformats.org/drawingml/2006/main">
            <a:pPr algn="ctr">
              <a:defRPr sz="1275">
                <a:solidFill>
                  <a:srgbClr val="59646D"/>
                </a:solidFill>
              </a:defRPr>
            </a:pPr>
            <a:r>
              <a:rPr sz="1275">
                <a:solidFill>
                  <a:srgbClr val="59646D"/>
                </a:solidFill>
              </a:rPr>
              <a:t>speech_to_text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A6F2E1-B23D-47AA-ACEF-6CE57A915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32385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99A3D"/>
                </a:solidFill>
              </a:defRPr>
            </a:pPr>
            <a:r>
              <a:rPr sz="1800" b="1">
                <a:solidFill>
                  <a:srgbClr val="C99A3D"/>
                </a:solidFill>
              </a:rPr>
              <a:t>&lt;-&gt;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7868DB-75B5-45B4-A67C-E9BB1D371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90750"/>
            <a:ext cx="26670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17324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BA1344-9B3B-42DB-AB63-FB57A3B2E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552700"/>
            <a:ext cx="2171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Backend + AI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929DE0-5BB5-42AF-9385-8927E4078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181350"/>
            <a:ext cx="20574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D9E5E7"/>
                </a:solidFill>
              </a:defRPr>
            </a:pPr>
            <a:r>
              <a:rPr sz="1275">
                <a:solidFill>
                  <a:srgbClr val="D9E5E7"/>
                </a:solidFill>
              </a:rPr>
              <a:t>FastAPI / Python 3.11</a:t>
            </a:r>
          </a:p>
          <a:p xmlns:a="http://schemas.openxmlformats.org/drawingml/2006/main">
            <a:pPr algn="ctr">
              <a:defRPr sz="1275">
                <a:solidFill>
                  <a:srgbClr val="D9E5E7"/>
                </a:solidFill>
              </a:defRPr>
            </a:pPr>
            <a:r>
              <a:rPr sz="1275">
                <a:solidFill>
                  <a:srgbClr val="D9E5E7"/>
                </a:solidFill>
              </a:rPr>
              <a:t>JWT + RBAC</a:t>
            </a:r>
          </a:p>
          <a:p xmlns:a="http://schemas.openxmlformats.org/drawingml/2006/main">
            <a:pPr algn="ctr">
              <a:defRPr sz="1275">
                <a:solidFill>
                  <a:srgbClr val="D9E5E7"/>
                </a:solidFill>
              </a:defRPr>
            </a:pPr>
            <a:r>
              <a:rPr sz="1275">
                <a:solidFill>
                  <a:srgbClr val="D9E5E7"/>
                </a:solidFill>
              </a:rPr>
              <a:t>Motor async MongoDB</a:t>
            </a:r>
          </a:p>
          <a:p xmlns:a="http://schemas.openxmlformats.org/drawingml/2006/main">
            <a:pPr algn="ctr">
              <a:defRPr sz="1275">
                <a:solidFill>
                  <a:srgbClr val="D9E5E7"/>
                </a:solidFill>
              </a:defRPr>
            </a:pPr>
            <a:r>
              <a:rPr sz="1275">
                <a:solidFill>
                  <a:srgbClr val="D9E5E7"/>
                </a:solidFill>
              </a:rPr>
              <a:t>LangChain + LangGraph</a:t>
            </a:r>
          </a:p>
          <a:p xmlns:a="http://schemas.openxmlformats.org/drawingml/2006/main">
            <a:pPr algn="ctr">
              <a:defRPr sz="1275">
                <a:solidFill>
                  <a:srgbClr val="D9E5E7"/>
                </a:solidFill>
              </a:defRPr>
            </a:pPr>
            <a:r>
              <a:rPr sz="1275">
                <a:solidFill>
                  <a:srgbClr val="D9E5E7"/>
                </a:solidFill>
              </a:rPr>
              <a:t>Gemini 2.5 Flash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26081E-3330-434B-9E53-8E9BE2461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32385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99A3D"/>
                </a:solidFill>
              </a:defRPr>
            </a:pPr>
            <a:r>
              <a:rPr sz="1800" b="1">
                <a:solidFill>
                  <a:srgbClr val="C99A3D"/>
                </a:solidFill>
              </a:rPr>
              <a:t>&lt;-&gt;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8536E7-BD43-4AA8-9E4B-2FC80A952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190750"/>
            <a:ext cx="26670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4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2A60DE-5A6C-4C0F-9970-CFFA24C38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552700"/>
            <a:ext cx="2171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01820"/>
                </a:solidFill>
              </a:defRPr>
            </a:pPr>
            <a:r>
              <a:rPr sz="2025" b="1">
                <a:solidFill>
                  <a:srgbClr val="101820"/>
                </a:solidFill>
              </a:rPr>
              <a:t>Data &amp; Infra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400E1E-9CFC-4FD8-B38D-BC197E811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181350"/>
            <a:ext cx="20574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59646D"/>
                </a:solidFill>
              </a:defRPr>
            </a:pPr>
            <a:r>
              <a:rPr sz="1275">
                <a:solidFill>
                  <a:srgbClr val="59646D"/>
                </a:solidFill>
              </a:rPr>
              <a:t>MongoDB 7</a:t>
            </a:r>
          </a:p>
          <a:p xmlns:a="http://schemas.openxmlformats.org/drawingml/2006/main">
            <a:pPr algn="ctr">
              <a:defRPr sz="1275">
                <a:solidFill>
                  <a:srgbClr val="59646D"/>
                </a:solidFill>
              </a:defRPr>
            </a:pPr>
            <a:r>
              <a:rPr sz="1275">
                <a:solidFill>
                  <a:srgbClr val="59646D"/>
                </a:solidFill>
              </a:rPr>
              <a:t>ChromaDB vectors</a:t>
            </a:r>
          </a:p>
          <a:p xmlns:a="http://schemas.openxmlformats.org/drawingml/2006/main">
            <a:pPr algn="ctr">
              <a:defRPr sz="1275">
                <a:solidFill>
                  <a:srgbClr val="59646D"/>
                </a:solidFill>
              </a:defRPr>
            </a:pPr>
            <a:r>
              <a:rPr sz="1275">
                <a:solidFill>
                  <a:srgbClr val="59646D"/>
                </a:solidFill>
              </a:rPr>
              <a:t>Google Directions API</a:t>
            </a:r>
          </a:p>
          <a:p xmlns:a="http://schemas.openxmlformats.org/drawingml/2006/main">
            <a:pPr algn="ctr">
              <a:defRPr sz="1275">
                <a:solidFill>
                  <a:srgbClr val="59646D"/>
                </a:solidFill>
              </a:defRPr>
            </a:pPr>
            <a:r>
              <a:rPr sz="1275">
                <a:solidFill>
                  <a:srgbClr val="59646D"/>
                </a:solidFill>
              </a:rPr>
              <a:t>Google Places API</a:t>
            </a:r>
          </a:p>
          <a:p xmlns:a="http://schemas.openxmlformats.org/drawingml/2006/main">
            <a:pPr algn="ctr">
              <a:defRPr sz="1275">
                <a:solidFill>
                  <a:srgbClr val="59646D"/>
                </a:solidFill>
              </a:defRPr>
            </a:pPr>
            <a:r>
              <a:rPr sz="1275">
                <a:solidFill>
                  <a:srgbClr val="59646D"/>
                </a:solidFill>
              </a:rPr>
              <a:t>Docker Compose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8B2381-EEF4-41C3-8A14-B0745A00D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334000"/>
            <a:ext cx="838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Design principle: keep the mobile app responsive while heavy data, pricing, and AI workflows stay server-side.</a:t>
            </a:r>
          </a:p>
        </p:txBody>
      </p:sp>
    </p:spTree>
    <p:extLst>
      <p:ext uri="{BB962C8B-B14F-4D97-AF65-F5344CB8AC3E}">
        <p14:creationId xmlns:p14="http://schemas.microsoft.com/office/powerpoint/2010/main" val="100823233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233146D-CAF7-4DDD-944E-C1E3E38DE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F6F73"/>
                </a:solidFill>
              </a:defRPr>
            </a:pPr>
            <a:r>
              <a:rPr sz="900" b="1">
                <a:solidFill>
                  <a:srgbClr val="0F6F73"/>
                </a:solidFill>
              </a:rPr>
              <a:t>REQUIREMENTS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78AE94-E364-445D-AB6A-9BEA83349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8096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1820"/>
                </a:solidFill>
              </a:defRPr>
            </a:pPr>
            <a:r>
              <a:rPr sz="2850" b="1">
                <a:solidFill>
                  <a:srgbClr val="101820"/>
                </a:solidFill>
              </a:rPr>
              <a:t>The project balances client features with production constraints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4D5CAB-4B93-49A9-AD11-E23660BD8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674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D2FFF0-F070-4C85-BC33-860A47A3B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1150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9646D"/>
                </a:solidFill>
              </a:defRPr>
            </a:pPr>
            <a:r>
              <a:rPr sz="1200" b="1">
                <a:solidFill>
                  <a:srgbClr val="59646D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140799-794F-448A-86B2-3BDD814CE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952625"/>
            <a:ext cx="4857750" cy="352425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4C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80FEED-3F03-476E-AC41-EA3B48631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952625"/>
            <a:ext cx="4857750" cy="352425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4C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DF9CC1-229E-4169-A05B-451BEA7CF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28600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F6F73"/>
                </a:solidFill>
              </a:defRPr>
            </a:pPr>
            <a:r>
              <a:rPr sz="2100" b="1">
                <a:solidFill>
                  <a:srgbClr val="0F6F73"/>
                </a:solidFill>
              </a:rPr>
              <a:t>Functional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46B6FE-9D55-461C-A327-F4EAC7E5E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9527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F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8E4AB1-92A1-4D78-B802-DD1507D14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876550"/>
            <a:ext cx="3771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01820"/>
                </a:solidFill>
              </a:defRPr>
            </a:pPr>
            <a:r>
              <a:rPr sz="1275">
                <a:solidFill>
                  <a:srgbClr val="101820"/>
                </a:solidFill>
              </a:rPr>
              <a:t>Authentication, profile, and booking history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C37FB8-4810-4CCF-A7B1-358BF3454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3718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F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405498-5AFD-47DD-9E9B-35D9365EF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295650"/>
            <a:ext cx="3771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01820"/>
                </a:solidFill>
              </a:defRPr>
            </a:pPr>
            <a:r>
              <a:rPr sz="1275">
                <a:solidFill>
                  <a:srgbClr val="101820"/>
                </a:solidFill>
              </a:rPr>
              <a:t>Search, vehicle selection, and trip confirmation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266A66-DD1E-4315-A1EF-F8AC1F0D5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7909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F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8801C4-06DD-44E5-9F96-D5940A1D3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714750"/>
            <a:ext cx="3771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01820"/>
                </a:solidFill>
              </a:defRPr>
            </a:pPr>
            <a:r>
              <a:rPr sz="1275">
                <a:solidFill>
                  <a:srgbClr val="101820"/>
                </a:solidFill>
              </a:rPr>
              <a:t>Dynamic pricing from distance and rate cards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FD644F-C24E-45EE-BB52-03C28C09D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2100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F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CE6B23-B540-49CB-A01E-4E60F6752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4133850"/>
            <a:ext cx="3771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01820"/>
                </a:solidFill>
              </a:defRPr>
            </a:pPr>
            <a:r>
              <a:rPr sz="1275">
                <a:solidFill>
                  <a:srgbClr val="101820"/>
                </a:solidFill>
              </a:rPr>
              <a:t>Admin fleet, promotions, complaints, and analytics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0EEA74-5842-400E-BE55-DD1E0A46C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6291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F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CC27A5-17D5-4E11-A22C-A477F8524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4552950"/>
            <a:ext cx="3771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01820"/>
                </a:solidFill>
              </a:defRPr>
            </a:pPr>
            <a:r>
              <a:rPr sz="1275">
                <a:solidFill>
                  <a:srgbClr val="101820"/>
                </a:solidFill>
              </a:rPr>
              <a:t>AVA assistant, notifications, loyalty, destination guide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28B20A-4EDE-4EB6-A320-947B6CB71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28600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C99A3D"/>
                </a:solidFill>
              </a:defRPr>
            </a:pPr>
            <a:r>
              <a:rPr sz="2100" b="1">
                <a:solidFill>
                  <a:srgbClr val="C99A3D"/>
                </a:solidFill>
              </a:rPr>
              <a:t>Non-functional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0D9B82-B659-4FA8-BE80-3D5B5E720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9527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400949-FB6B-4AE2-B49F-37BF3C158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2876550"/>
            <a:ext cx="3771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01820"/>
                </a:solidFill>
              </a:defRPr>
            </a:pPr>
            <a:r>
              <a:rPr sz="1275">
                <a:solidFill>
                  <a:srgbClr val="101820"/>
                </a:solidFill>
              </a:rPr>
              <a:t>Performance through async FastAPI and batched pricing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AF4285-9529-43F1-8C5A-4AA571121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3718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3291E5-0F8E-4B9D-A722-7B2D3C6DA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3295650"/>
            <a:ext cx="3771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01820"/>
                </a:solidFill>
              </a:defRPr>
            </a:pPr>
            <a:r>
              <a:rPr sz="1275">
                <a:solidFill>
                  <a:srgbClr val="101820"/>
                </a:solidFill>
              </a:rPr>
              <a:t>Security with JWT, bcrypt, RBAC, and audit logging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2475FA-E96A-469E-ADFD-36C613E93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7909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BB7D41-23F4-4FA1-9599-CB2682D65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3714750"/>
            <a:ext cx="3771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01820"/>
                </a:solidFill>
              </a:defRPr>
            </a:pPr>
            <a:r>
              <a:rPr sz="1275">
                <a:solidFill>
                  <a:srgbClr val="101820"/>
                </a:solidFill>
              </a:rPr>
              <a:t>Scalability with stateless API, Docker, and MongoDB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D0C25BC-0F0A-45B3-A48F-10786D63B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2100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2D26BE3-3231-4E64-B8D3-A201FCA83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4133850"/>
            <a:ext cx="3771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01820"/>
                </a:solidFill>
              </a:defRPr>
            </a:pPr>
            <a:r>
              <a:rPr sz="1275">
                <a:solidFill>
                  <a:srgbClr val="101820"/>
                </a:solidFill>
              </a:rPr>
              <a:t>Reliability through graceful AI and distance fallbacks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8C7583C-E837-4FCD-A088-DAEB9A6D6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6291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1E935EF-4A82-4925-96B2-691E0B330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4552950"/>
            <a:ext cx="3771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01820"/>
                </a:solidFill>
              </a:defRPr>
            </a:pPr>
            <a:r>
              <a:rPr sz="1275">
                <a:solidFill>
                  <a:srgbClr val="101820"/>
                </a:solidFill>
              </a:rPr>
              <a:t>Usability with bilingual, dark/light, and voice support</a:t>
            </a:r>
          </a:p>
        </p:txBody>
      </p:sp>
    </p:spTree>
    <p:extLst>
      <p:ext uri="{BB962C8B-B14F-4D97-AF65-F5344CB8AC3E}">
        <p14:creationId xmlns:p14="http://schemas.microsoft.com/office/powerpoint/2010/main" val="131354808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D8ED4BA-F0CE-4AC7-A053-80520733B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D9E5E7"/>
                </a:solidFill>
              </a:defRPr>
            </a:pPr>
            <a:r>
              <a:rPr sz="900" b="1">
                <a:solidFill>
                  <a:srgbClr val="D9E5E7"/>
                </a:solidFill>
              </a:rPr>
              <a:t>AVA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63F098-CB52-4B21-BEC2-995125CC4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8096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The assistant is designed as a supervised multi-agent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871F0B-EC41-4AC0-9E72-65FAAD174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674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5A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6BE20E-575F-4729-BC1A-5353C0118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1150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D9E5E7"/>
                </a:solidFill>
              </a:defRPr>
            </a:pPr>
            <a:r>
              <a:rPr sz="1200" b="1">
                <a:solidFill>
                  <a:srgbClr val="D9E5E7"/>
                </a:solidFill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9A599B-2AF6-4C74-AD13-6EBA89331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62150"/>
            <a:ext cx="12573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335A6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D4FEE0-75E3-4E24-8D11-2B4DC9202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14550"/>
            <a:ext cx="1028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Message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4B40A0-59A2-4E44-A44D-8B59D1A66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1145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9E5E7"/>
                </a:solidFill>
              </a:defRPr>
            </a:pPr>
            <a:r>
              <a:rPr sz="1350" b="1">
                <a:solidFill>
                  <a:srgbClr val="D9E5E7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E45838-EE3B-4F07-97E7-832CC924C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962150"/>
            <a:ext cx="12573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335A6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E8C936-7251-4028-816B-096D0EA44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114550"/>
            <a:ext cx="1028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Classify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7F301A-56CC-42C3-B8A2-648C74B9B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1145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9E5E7"/>
                </a:solidFill>
              </a:defRPr>
            </a:pPr>
            <a:r>
              <a:rPr sz="1350" b="1">
                <a:solidFill>
                  <a:srgbClr val="D9E5E7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1E604E-1178-41D0-BCCF-7E2ACB864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962150"/>
            <a:ext cx="12573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C99A3D"/>
          </a:solidFill>
          <a:ln xmlns:a="http://schemas.openxmlformats.org/drawingml/2006/main" w="9525">
            <a:solidFill>
              <a:srgbClr val="C99A3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2F634B-7F8C-4516-A48C-EE03D0DF8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114550"/>
            <a:ext cx="1028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820"/>
                </a:solidFill>
              </a:defRPr>
            </a:pPr>
            <a:r>
              <a:rPr sz="1200" b="1">
                <a:solidFill>
                  <a:srgbClr val="101820"/>
                </a:solidFill>
              </a:rPr>
              <a:t>Role Gate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714C12-CE65-4050-AA39-23C08EB26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1145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9E5E7"/>
                </a:solidFill>
              </a:defRPr>
            </a:pPr>
            <a:r>
              <a:rPr sz="1350" b="1">
                <a:solidFill>
                  <a:srgbClr val="D9E5E7"/>
                </a:solidFill>
              </a:rPr>
              <a:t>-&gt;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4D929D-AB55-4005-B016-4EBFACF17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962150"/>
            <a:ext cx="12573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335A6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6385B9-86EF-4059-B8AD-B8E781341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14550"/>
            <a:ext cx="1028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Dispatch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050C32-268E-4285-8FE0-BCA2379D1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1145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9E5E7"/>
                </a:solidFill>
              </a:defRPr>
            </a:pPr>
            <a:r>
              <a:rPr sz="1350" b="1">
                <a:solidFill>
                  <a:srgbClr val="D9E5E7"/>
                </a:solidFill>
              </a:rPr>
              <a:t>-&gt;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C3826B-630B-45CA-A4B4-A03A8F2BB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962150"/>
            <a:ext cx="12573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C99A3D"/>
          </a:solidFill>
          <a:ln xmlns:a="http://schemas.openxmlformats.org/drawingml/2006/main" w="9525">
            <a:solidFill>
              <a:srgbClr val="C99A3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7D7032-6907-4B1C-9CF5-6A52C00E8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114550"/>
            <a:ext cx="1028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820"/>
                </a:solidFill>
              </a:defRPr>
            </a:pPr>
            <a:r>
              <a:rPr sz="1200" b="1">
                <a:solidFill>
                  <a:srgbClr val="101820"/>
                </a:solidFill>
              </a:rPr>
              <a:t>Safety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BF5E6F-BFFF-459A-A726-77A4251B1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1145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9E5E7"/>
                </a:solidFill>
              </a:defRPr>
            </a:pPr>
            <a:r>
              <a:rPr sz="1350" b="1">
                <a:solidFill>
                  <a:srgbClr val="D9E5E7"/>
                </a:solidFill>
              </a:rPr>
              <a:t>-&gt;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CDE396-F906-4E19-8C25-66BE3C194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962150"/>
            <a:ext cx="12573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335A6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0A6FDD-778B-4BB1-BDC6-1486A2F3F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114550"/>
            <a:ext cx="1028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Response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E99899-6F3E-40A4-95FD-EE14F17B1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43250"/>
            <a:ext cx="2762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72D3A"/>
          </a:solidFill>
          <a:ln xmlns:a="http://schemas.openxmlformats.org/drawingml/2006/main" w="9525">
            <a:solidFill>
              <a:srgbClr val="335A6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FA62D2-3BEE-4F2E-990C-2C5D9EDAD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2575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Booking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7412A3-7CE2-449B-A5C0-FD7038DE7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5433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D9E5E7"/>
                </a:solidFill>
              </a:defRPr>
            </a:pPr>
            <a:r>
              <a:rPr sz="1050">
                <a:solidFill>
                  <a:srgbClr val="D9E5E7"/>
                </a:solidFill>
              </a:rPr>
              <a:t>Create, modify, cancel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21981D0-A214-4206-8212-5E5C8A5BE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143250"/>
            <a:ext cx="2762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72D3A"/>
          </a:solidFill>
          <a:ln xmlns:a="http://schemas.openxmlformats.org/drawingml/2006/main" w="9525">
            <a:solidFill>
              <a:srgbClr val="335A6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F068EBC-0DF5-4910-A526-8656A3FC8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2575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Support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694DEF2-8F37-425E-A32E-A0EC39FF8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5433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D9E5E7"/>
                </a:solidFill>
              </a:defRPr>
            </a:pPr>
            <a:r>
              <a:rPr sz="1050">
                <a:solidFill>
                  <a:srgbClr val="D9E5E7"/>
                </a:solidFill>
              </a:rPr>
              <a:t>RAG answers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08F5C94-2062-450E-853C-F2B69781C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43250"/>
            <a:ext cx="2762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72D3A"/>
          </a:solidFill>
          <a:ln xmlns:a="http://schemas.openxmlformats.org/drawingml/2006/main" w="9525">
            <a:solidFill>
              <a:srgbClr val="335A6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0F702D3-C8FB-4A3E-B556-45F879450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2575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Loyalty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14DAA71-A9B5-4DBE-A6F5-E0C774611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5433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D9E5E7"/>
                </a:solidFill>
              </a:defRPr>
            </a:pPr>
            <a:r>
              <a:rPr sz="1050">
                <a:solidFill>
                  <a:srgbClr val="D9E5E7"/>
                </a:solidFill>
              </a:rPr>
              <a:t>Points and promos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8C77FA7-487E-40B3-B6D5-6C427BE93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95750"/>
            <a:ext cx="2762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72D3A"/>
          </a:solidFill>
          <a:ln xmlns:a="http://schemas.openxmlformats.org/drawingml/2006/main" w="9525">
            <a:solidFill>
              <a:srgbClr val="335A6E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EE8348B-70F6-4786-BB72-B2FEFE6DE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100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Feedback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8DB9FF6-96D9-46D6-B471-61C1856B0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4958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D9E5E7"/>
                </a:solidFill>
              </a:defRPr>
            </a:pPr>
            <a:r>
              <a:rPr sz="1050">
                <a:solidFill>
                  <a:srgbClr val="D9E5E7"/>
                </a:solidFill>
              </a:rPr>
              <a:t>Complaints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90801B9-ED1D-406E-8C90-CC7BF21C7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095750"/>
            <a:ext cx="2762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72D3A"/>
          </a:solidFill>
          <a:ln xmlns:a="http://schemas.openxmlformats.org/drawingml/2006/main" w="9525">
            <a:solidFill>
              <a:srgbClr val="335A6E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632675D-0B52-4845-96D2-DDAC8CEFA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2100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Operations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2BDF460-50AF-41CA-9FE6-B5FF93473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4958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D9E5E7"/>
                </a:solidFill>
              </a:defRPr>
            </a:pPr>
            <a:r>
              <a:rPr sz="1050">
                <a:solidFill>
                  <a:srgbClr val="D9E5E7"/>
                </a:solidFill>
              </a:rPr>
              <a:t>Admin actions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B29EE3F-7010-4B7F-892D-65BB227C3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095750"/>
            <a:ext cx="2762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72D3A"/>
          </a:solidFill>
          <a:ln xmlns:a="http://schemas.openxmlformats.org/drawingml/2006/main" w="9525">
            <a:solidFill>
              <a:srgbClr val="335A6E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2D759CA-2F59-42A4-A638-C4D4655BC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2100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Insights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FC01FC9-D747-411E-847F-854069FB1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4958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D9E5E7"/>
                </a:solidFill>
              </a:defRPr>
            </a:pPr>
            <a:r>
              <a:rPr sz="1050">
                <a:solidFill>
                  <a:srgbClr val="D9E5E7"/>
                </a:solidFill>
              </a:rPr>
              <a:t>BI analytics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DF1D809-C5E8-4FA6-8856-2B98414CE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353050"/>
            <a:ext cx="885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Safety gates: role isolation, confirmation before writes, audit logging, and friendly error handling.</a:t>
            </a:r>
          </a:p>
        </p:txBody>
      </p:sp>
    </p:spTree>
    <p:extLst>
      <p:ext uri="{BB962C8B-B14F-4D97-AF65-F5344CB8AC3E}">
        <p14:creationId xmlns:p14="http://schemas.microsoft.com/office/powerpoint/2010/main" val="70221791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228DCA8-7853-4981-B5BF-559AACEE2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F6F73"/>
                </a:solidFill>
              </a:defRPr>
            </a:pPr>
            <a:r>
              <a:rPr sz="900" b="1">
                <a:solidFill>
                  <a:srgbClr val="0F6F73"/>
                </a:solidFill>
              </a:rPr>
              <a:t>APPLICATION 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D952A5-9F9C-49AB-ACF6-89F2CC68E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8096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1820"/>
                </a:solidFill>
              </a:defRPr>
            </a:pPr>
            <a:r>
              <a:rPr sz="2850" b="1">
                <a:solidFill>
                  <a:srgbClr val="101820"/>
                </a:solidFill>
              </a:rPr>
              <a:t>The demo proves the full journey, from booking to operator control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B16417-83CC-4B76-AD8F-473544ADD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674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912172-AED1-429E-A2DF-7C7F67887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1150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9646D"/>
                </a:solidFill>
              </a:defRPr>
            </a:pPr>
            <a:r>
              <a:rPr sz="1200" b="1">
                <a:solidFill>
                  <a:srgbClr val="59646D"/>
                </a:solidFill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2F35BA-B38E-4D67-B905-B01114EF7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98120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C99A3D"/>
                </a:solidFill>
              </a:defRPr>
            </a:pPr>
            <a:r>
              <a:rPr sz="2175" b="1">
                <a:solidFill>
                  <a:srgbClr val="C99A3D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7B39AA-3C98-4ACD-8736-8A68653FB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181225"/>
            <a:ext cx="78105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7FD166-3EC6-443F-A734-2A44180DD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95262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1820"/>
                </a:solidFill>
              </a:defRPr>
            </a:pPr>
            <a:r>
              <a:rPr sz="1800" b="1">
                <a:solidFill>
                  <a:srgbClr val="101820"/>
                </a:solidFill>
              </a:rPr>
              <a:t>Client booking flow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EED116-CE75-41CB-8F7B-85E4C1A0A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990725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9646D"/>
                </a:solidFill>
              </a:defRPr>
            </a:pPr>
            <a:r>
              <a:rPr sz="1350">
                <a:solidFill>
                  <a:srgbClr val="59646D"/>
                </a:solidFill>
              </a:rPr>
              <a:t>Search destination, choose vehicle, confirm trip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0070DD-0DEE-4F73-84B7-7BBC6BB5D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5750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C99A3D"/>
                </a:solidFill>
              </a:defRPr>
            </a:pPr>
            <a:r>
              <a:rPr sz="2175" b="1">
                <a:solidFill>
                  <a:srgbClr val="C99A3D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B04E60-9C37-4121-AD81-74C8E98D1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057525"/>
            <a:ext cx="78105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B784C6-58ED-4832-B819-03690A166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82892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1820"/>
                </a:solidFill>
              </a:defRPr>
            </a:pPr>
            <a:r>
              <a:rPr sz="1800" b="1">
                <a:solidFill>
                  <a:srgbClr val="101820"/>
                </a:solidFill>
              </a:rPr>
              <a:t>Dynamic pricing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2B3495-4A62-4631-A5CA-309951D0C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867025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9646D"/>
                </a:solidFill>
              </a:defRPr>
            </a:pPr>
            <a:r>
              <a:rPr sz="1350">
                <a:solidFill>
                  <a:srgbClr val="59646D"/>
                </a:solidFill>
              </a:rPr>
              <a:t>Distance-based EUR quote with fleet-specific rates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DFEEBF-6FC3-40E0-9DC1-ED4FE72C4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3380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C99A3D"/>
                </a:solidFill>
              </a:defRPr>
            </a:pPr>
            <a:r>
              <a:rPr sz="2175" b="1">
                <a:solidFill>
                  <a:srgbClr val="C99A3D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479669-DBA4-400A-96E7-BDEB33986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933825"/>
            <a:ext cx="78105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7A856D-8F66-493B-A609-6D319C3F2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70522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1820"/>
                </a:solidFill>
              </a:defRPr>
            </a:pPr>
            <a:r>
              <a:rPr sz="1800" b="1">
                <a:solidFill>
                  <a:srgbClr val="101820"/>
                </a:solidFill>
              </a:rPr>
              <a:t>Admin dashboard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7D2FCE-6917-4212-B0A7-F94FC758E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743325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9646D"/>
                </a:solidFill>
              </a:defRPr>
            </a:pPr>
            <a:r>
              <a:rPr sz="1350">
                <a:solidFill>
                  <a:srgbClr val="59646D"/>
                </a:solidFill>
              </a:rPr>
              <a:t>Approvals, complaints, analytics, fleet and pricing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ABFA14-A2C1-4D6E-8B58-81887D0A6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1010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C99A3D"/>
                </a:solidFill>
              </a:defRPr>
            </a:pPr>
            <a:r>
              <a:rPr sz="2175" b="1">
                <a:solidFill>
                  <a:srgbClr val="C99A3D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CDDBD4-3336-40EC-B1C8-EDDB5BB7E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810125"/>
            <a:ext cx="78105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CE7A05-7F25-4153-A48C-545C39C36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58152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1820"/>
                </a:solidFill>
              </a:defRPr>
            </a:pPr>
            <a:r>
              <a:rPr sz="1800" b="1">
                <a:solidFill>
                  <a:srgbClr val="101820"/>
                </a:solidFill>
              </a:rPr>
              <a:t>AVA interactions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6951B8-0FB3-4C97-9493-F0A5C4C49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619625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9646D"/>
                </a:solidFill>
              </a:defRPr>
            </a:pPr>
            <a:r>
              <a:rPr sz="1350">
                <a:solidFill>
                  <a:srgbClr val="59646D"/>
                </a:solidFill>
              </a:rPr>
              <a:t>Customer support, booking actions, and BI insights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A0FD64-147F-4714-8234-68F680CF4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65785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Use this slide as the transition into the live walkthrough.</a:t>
            </a:r>
          </a:p>
        </p:txBody>
      </p:sp>
    </p:spTree>
    <p:extLst>
      <p:ext uri="{BB962C8B-B14F-4D97-AF65-F5344CB8AC3E}">
        <p14:creationId xmlns:p14="http://schemas.microsoft.com/office/powerpoint/2010/main" val="63783565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8DD7579-7734-42D4-8499-0E1B4422F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F6F73"/>
                </a:solidFill>
              </a:defRPr>
            </a:pPr>
            <a:r>
              <a:rPr sz="900" b="1">
                <a:solidFill>
                  <a:srgbClr val="0F6F73"/>
                </a:solidFill>
              </a:rPr>
              <a:t>PROGRESS &amp; CONCLUSION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C36073-E72E-486F-AAD2-7747650FD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8096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1820"/>
                </a:solidFill>
              </a:defRPr>
            </a:pPr>
            <a:r>
              <a:rPr sz="2850" b="1">
                <a:solidFill>
                  <a:srgbClr val="101820"/>
                </a:solidFill>
              </a:rPr>
              <a:t>The core platform is complete, with clear next steps for production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886AEC-8907-4CAE-98CE-526884B8A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674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09C0FD-8652-4E12-928B-1B4B44DCE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1150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9646D"/>
                </a:solidFill>
              </a:defRPr>
            </a:pPr>
            <a:r>
              <a:rPr sz="1200" b="1">
                <a:solidFill>
                  <a:srgbClr val="59646D"/>
                </a:solidFill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B4845F-44D3-4FF1-8174-7A3E538ED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81200"/>
            <a:ext cx="381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F6F73"/>
                </a:solidFill>
              </a:defRPr>
            </a:pPr>
            <a:r>
              <a:rPr sz="2100" b="1">
                <a:solidFill>
                  <a:srgbClr val="0F6F73"/>
                </a:solidFill>
              </a:rPr>
              <a:t>Completed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2C4F59-924A-4B62-8F25-A9723F1F3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479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F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6F74AD-B6B6-405E-9207-7772E5CFF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571750"/>
            <a:ext cx="4533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01820"/>
                </a:solidFill>
              </a:defRPr>
            </a:pPr>
            <a:r>
              <a:rPr sz="1275">
                <a:solidFill>
                  <a:srgbClr val="101820"/>
                </a:solidFill>
              </a:rPr>
              <a:t>Full booking flow with Google Maps and EUR pricing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1C350D-4C76-4C4A-A3BD-6492B2FD0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575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F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5543B1-18ED-4B4F-898F-4E1738BF2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981325"/>
            <a:ext cx="4533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01820"/>
                </a:solidFill>
              </a:defRPr>
            </a:pPr>
            <a:r>
              <a:rPr sz="1275">
                <a:solidFill>
                  <a:srgbClr val="101820"/>
                </a:solidFill>
              </a:rPr>
              <a:t>8-vehicle fleet and real rate-card logic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DF42E4-18D1-44F0-A10B-692C0FC8D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671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F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E039AA-7A92-4C48-AA9B-FF3BDCA2E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90900"/>
            <a:ext cx="4533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01820"/>
                </a:solidFill>
              </a:defRPr>
            </a:pPr>
            <a:r>
              <a:rPr sz="1275">
                <a:solidFill>
                  <a:srgbClr val="101820"/>
                </a:solidFill>
              </a:rPr>
              <a:t>Cash approval workflow and admin dashboard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396AEC-7657-4057-AF6C-3EC820368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766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F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F372B2-8B5B-4A75-93F6-7CC660CBF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00475"/>
            <a:ext cx="4533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01820"/>
                </a:solidFill>
              </a:defRPr>
            </a:pPr>
            <a:r>
              <a:rPr sz="1275">
                <a:solidFill>
                  <a:srgbClr val="101820"/>
                </a:solidFill>
              </a:rPr>
              <a:t>AVA with 6 sub-agents, RAG, and BI analytics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C485F1-42BE-4E76-9A97-AB3A94913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862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F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374BED-CB34-47A6-A1E0-DD05AE36F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10050"/>
            <a:ext cx="4533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01820"/>
                </a:solidFill>
              </a:defRPr>
            </a:pPr>
            <a:r>
              <a:rPr sz="1275">
                <a:solidFill>
                  <a:srgbClr val="101820"/>
                </a:solidFill>
              </a:rPr>
              <a:t>Complaints, loyalty, notifications, bilingual UI, Docker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F6F842-E37B-49A5-A9AA-6CE8C60A7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981200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C99A3D"/>
                </a:solidFill>
              </a:defRPr>
            </a:pPr>
            <a:r>
              <a:rPr sz="2100" b="1">
                <a:solidFill>
                  <a:srgbClr val="C99A3D"/>
                </a:solidFill>
              </a:rPr>
              <a:t>Future work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B81523-9826-46AA-85C0-9A4372C7E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6479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073455-0A28-461D-AC52-8D9D81CA7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571750"/>
            <a:ext cx="3771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01820"/>
                </a:solidFill>
              </a:defRPr>
            </a:pPr>
            <a:r>
              <a:rPr sz="1350">
                <a:solidFill>
                  <a:srgbClr val="101820"/>
                </a:solidFill>
              </a:rPr>
              <a:t>Stripe or PayPal payment gateway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D45088-3F4C-4D0F-AF42-82944A4EB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1051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5514EE-7DB8-4CBA-B122-665C11509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028950"/>
            <a:ext cx="3771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01820"/>
                </a:solidFill>
              </a:defRPr>
            </a:pPr>
            <a:r>
              <a:rPr sz="1350">
                <a:solidFill>
                  <a:srgbClr val="101820"/>
                </a:solidFill>
              </a:rPr>
              <a:t>Firebase push notifications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C1E291-D99F-449D-88EE-47D5148C9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5623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079367-722F-4ABC-A0D6-E03141E98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486150"/>
            <a:ext cx="3771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01820"/>
                </a:solidFill>
              </a:defRPr>
            </a:pPr>
            <a:r>
              <a:rPr sz="1350">
                <a:solidFill>
                  <a:srgbClr val="101820"/>
                </a:solidFill>
              </a:rPr>
              <a:t>Real-time GPS driver tracking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39A2DD-E7DD-437C-9E20-B73FEBF01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0195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602F23-C6BB-4F39-965A-FF4BBC198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943350"/>
            <a:ext cx="3771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01820"/>
                </a:solidFill>
              </a:defRPr>
            </a:pPr>
            <a:r>
              <a:rPr sz="1350">
                <a:solidFill>
                  <a:srgbClr val="101820"/>
                </a:solidFill>
              </a:rPr>
              <a:t>Driver-side mobile app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26424F9-EC32-4CCC-93B1-99B55C658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143500"/>
            <a:ext cx="88582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1AD2837-B64E-4CEF-AB1A-22ACDB081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14950"/>
            <a:ext cx="819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Key achievement: real pricing, operator control, and production-grade AI in a mobile-first platform.</a:t>
            </a:r>
          </a:p>
        </p:txBody>
      </p:sp>
    </p:spTree>
    <p:extLst>
      <p:ext uri="{BB962C8B-B14F-4D97-AF65-F5344CB8AC3E}">
        <p14:creationId xmlns:p14="http://schemas.microsoft.com/office/powerpoint/2010/main" val="152283229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0A36312-8A45-46BA-84F5-E49716136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00FF1F-C352-4FC8-92BE-324EC7B77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C0DA42-6750-4CF0-ABD6-4A02C5F57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6695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Thank you for your attention.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16F68F-70DD-4255-8899-CFA911C82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352800"/>
            <a:ext cx="400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>
                <a:solidFill>
                  <a:srgbClr val="D9E5E7"/>
                </a:solidFill>
              </a:defRPr>
            </a:pPr>
            <a:r>
              <a:rPr sz="2550">
                <a:solidFill>
                  <a:srgbClr val="D9E5E7"/>
                </a:solidFill>
              </a:rPr>
              <a:t>Questions?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C2B77E-EE8E-4B54-8B56-32EDE955E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053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EB352E-9925-4EDF-A892-08195935F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1435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D9E5E7"/>
                </a:solidFill>
              </a:defRPr>
            </a:pPr>
            <a:r>
              <a:rPr sz="1350">
                <a:solidFill>
                  <a:srgbClr val="D9E5E7"/>
                </a:solidFill>
              </a:rPr>
              <a:t>Guesmi Firas | Esprit - PFE 2026</a:t>
            </a:r>
          </a:p>
        </p:txBody>
      </p:sp>
    </p:spTree>
    <p:extLst>
      <p:ext uri="{BB962C8B-B14F-4D97-AF65-F5344CB8AC3E}">
        <p14:creationId xmlns:p14="http://schemas.microsoft.com/office/powerpoint/2010/main" val="11113393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2026-07-15T06:36:57.8680000Z</dcterms:created>
  <dcterms:modified xsi:type="dcterms:W3CDTF">2026-07-15T06:36:57.8680000Z</dcterms:modified>
</coreProperties>
</file>